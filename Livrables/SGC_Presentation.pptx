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73" r:id="rId10"/>
    <p:sldId id="272" r:id="rId11"/>
    <p:sldId id="263" r:id="rId12"/>
    <p:sldId id="264" r:id="rId13"/>
    <p:sldId id="265" r:id="rId14"/>
    <p:sldId id="266" r:id="rId15"/>
    <p:sldId id="270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9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940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6E4E8-C719-2097-769F-E92357E14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EF1F1-11F6-1508-CACB-4065695E9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A7C5C-8811-9607-1D2F-4ED2BAD43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1B89E-33AA-E665-3A2D-5C4282C6B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87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C7B39-AB59-D2F4-89BA-33D20153A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5FC58-F849-C5C5-3CE7-C55BE51FA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9B661-5C45-9817-059E-BE2C796A5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70B47-D3D1-E31D-02AD-A57B62EB3B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86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6344-939F-A66E-2725-4D305066F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D9C56A-A3CB-716C-589C-36D091519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291F2-4CE5-F469-B69C-548C890D9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37F34-735B-19ED-1B62-E713DAFE5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74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91440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4572000" y="214884"/>
            <a:ext cx="4572000" cy="466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4462272" y="214884"/>
            <a:ext cx="109728" cy="4663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274320" y="48828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</a:t>
            </a:r>
            <a:endParaRPr lang="fr-FR" sz="1050" b="1" noProof="0" dirty="0"/>
          </a:p>
        </p:txBody>
      </p:sp>
      <p:sp>
        <p:nvSpPr>
          <p:cNvPr id="8" name="Text 6"/>
          <p:cNvSpPr/>
          <p:nvPr/>
        </p:nvSpPr>
        <p:spPr>
          <a:xfrm>
            <a:off x="1004896" y="2165870"/>
            <a:ext cx="2428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6600" b="1" noProof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SGC</a:t>
            </a:r>
          </a:p>
        </p:txBody>
      </p:sp>
      <p:sp>
        <p:nvSpPr>
          <p:cNvPr id="9" name="Text 7"/>
          <p:cNvSpPr/>
          <p:nvPr/>
        </p:nvSpPr>
        <p:spPr>
          <a:xfrm>
            <a:off x="738196" y="3171517"/>
            <a:ext cx="33125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noProof="0" dirty="0">
                <a:latin typeface="Aptos Narrow" panose="020B0004020202020204" pitchFamily="34" charset="0"/>
                <a:ea typeface="Arial" pitchFamily="34" charset="-122"/>
                <a:cs typeface="Arial" pitchFamily="34" charset="-120"/>
              </a:rPr>
              <a:t>Système de Gestion Commerciale</a:t>
            </a:r>
            <a:endParaRPr lang="fr-FR" sz="1600" noProof="0" dirty="0">
              <a:latin typeface="Aptos Narrow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 flipV="1">
            <a:off x="4754880" y="4274309"/>
            <a:ext cx="3977640" cy="45719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6"/>
          <p:cNvSpPr/>
          <p:nvPr/>
        </p:nvSpPr>
        <p:spPr>
          <a:xfrm>
            <a:off x="4762137" y="4353699"/>
            <a:ext cx="74980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4754880" y="436821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PyQt6</a:t>
            </a:r>
            <a:endParaRPr lang="fr-FR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5559552" y="4375475"/>
            <a:ext cx="74980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5566809" y="43609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fr-FR" sz="900" noProof="0" dirty="0"/>
          </a:p>
        </p:txBody>
      </p:sp>
      <p:sp>
        <p:nvSpPr>
          <p:cNvPr id="32" name="Shape 30"/>
          <p:cNvSpPr/>
          <p:nvPr/>
        </p:nvSpPr>
        <p:spPr>
          <a:xfrm>
            <a:off x="6371481" y="4353699"/>
            <a:ext cx="74980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6364224" y="436821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 err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endParaRPr lang="fr-FR" sz="900" noProof="0" dirty="0"/>
          </a:p>
        </p:txBody>
      </p:sp>
      <p:sp>
        <p:nvSpPr>
          <p:cNvPr id="34" name="Shape 32"/>
          <p:cNvSpPr/>
          <p:nvPr/>
        </p:nvSpPr>
        <p:spPr>
          <a:xfrm>
            <a:off x="7176153" y="4353699"/>
            <a:ext cx="74980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7168896" y="436821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 err="1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ReportLab</a:t>
            </a:r>
            <a:endParaRPr lang="fr-FR" sz="900" noProof="0" dirty="0"/>
          </a:p>
        </p:txBody>
      </p:sp>
      <p:sp>
        <p:nvSpPr>
          <p:cNvPr id="36" name="Shape 34"/>
          <p:cNvSpPr/>
          <p:nvPr/>
        </p:nvSpPr>
        <p:spPr>
          <a:xfrm>
            <a:off x="7980825" y="4353699"/>
            <a:ext cx="74980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5"/>
          <p:cNvSpPr/>
          <p:nvPr/>
        </p:nvSpPr>
        <p:spPr>
          <a:xfrm>
            <a:off x="7973568" y="436821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fr-FR" sz="900" noProof="0" dirty="0"/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05E124B6-A89B-67A9-9ACF-7E05C97B8E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0" t="8007" r="22900" b="5975"/>
          <a:stretch>
            <a:fillRect/>
          </a:stretch>
        </p:blipFill>
        <p:spPr>
          <a:xfrm>
            <a:off x="738196" y="717804"/>
            <a:ext cx="2816352" cy="10897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51" name="Groupe 50">
            <a:extLst>
              <a:ext uri="{FF2B5EF4-FFF2-40B4-BE49-F238E27FC236}">
                <a16:creationId xmlns:a16="http://schemas.microsoft.com/office/drawing/2014/main" id="{C6FFA985-7629-6757-BB60-542ED7CE1832}"/>
              </a:ext>
            </a:extLst>
          </p:cNvPr>
          <p:cNvGrpSpPr/>
          <p:nvPr/>
        </p:nvGrpSpPr>
        <p:grpSpPr>
          <a:xfrm>
            <a:off x="4744573" y="819144"/>
            <a:ext cx="3952533" cy="1268817"/>
            <a:chOff x="4744573" y="819144"/>
            <a:chExt cx="3952533" cy="126881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68DF15B-81FF-4208-2CD3-400A0DAF302F}"/>
                </a:ext>
              </a:extLst>
            </p:cNvPr>
            <p:cNvSpPr/>
            <p:nvPr/>
          </p:nvSpPr>
          <p:spPr>
            <a:xfrm flipV="1">
              <a:off x="4744573" y="819144"/>
              <a:ext cx="3952533" cy="45719"/>
            </a:xfrm>
            <a:prstGeom prst="rect">
              <a:avLst/>
            </a:prstGeom>
            <a:solidFill>
              <a:srgbClr val="0891B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FE6FCE4-DAC1-693B-2347-E1D8C49D280F}"/>
                </a:ext>
              </a:extLst>
            </p:cNvPr>
            <p:cNvSpPr/>
            <p:nvPr/>
          </p:nvSpPr>
          <p:spPr>
            <a:xfrm>
              <a:off x="4744986" y="855695"/>
              <a:ext cx="3941452" cy="1232266"/>
            </a:xfrm>
            <a:prstGeom prst="rect">
              <a:avLst/>
            </a:prstGeom>
            <a:solidFill>
              <a:srgbClr val="E8F4FD"/>
            </a:solidFill>
            <a:ln w="6350"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9B95B05-14EA-84AC-085A-D430B26AC97F}"/>
                </a:ext>
              </a:extLst>
            </p:cNvPr>
            <p:cNvSpPr/>
            <p:nvPr/>
          </p:nvSpPr>
          <p:spPr>
            <a:xfrm>
              <a:off x="4744986" y="855695"/>
              <a:ext cx="64008" cy="1232266"/>
            </a:xfrm>
            <a:prstGeom prst="rect">
              <a:avLst/>
            </a:prstGeom>
            <a:solidFill>
              <a:srgbClr val="0891B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49" name="TextBox 37">
              <a:extLst>
                <a:ext uri="{FF2B5EF4-FFF2-40B4-BE49-F238E27FC236}">
                  <a16:creationId xmlns:a16="http://schemas.microsoft.com/office/drawing/2014/main" id="{52DFFE69-1EC8-BBAD-DD13-6CD7C755C8E3}"/>
                </a:ext>
              </a:extLst>
            </p:cNvPr>
            <p:cNvSpPr txBox="1"/>
            <p:nvPr/>
          </p:nvSpPr>
          <p:spPr>
            <a:xfrm>
              <a:off x="5257050" y="943397"/>
              <a:ext cx="2697480" cy="1089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fr-FR" sz="1200" b="1" i="0" noProof="0" dirty="0">
                  <a:latin typeface="Arial" panose="020B0604020202020204" pitchFamily="34" charset="0"/>
                  <a:cs typeface="Arial" panose="020B0604020202020204" pitchFamily="34" charset="0"/>
                </a:rPr>
                <a:t>SORO Débé Adama</a:t>
              </a:r>
            </a:p>
            <a:p>
              <a:pPr>
                <a:lnSpc>
                  <a:spcPts val="2000"/>
                </a:lnSpc>
              </a:pPr>
              <a:r>
                <a:rPr lang="fr-CI" sz="1200" b="1" dirty="0">
                  <a:latin typeface="Arial" panose="020B0604020202020204" pitchFamily="34" charset="0"/>
                  <a:ea typeface="ADLaM Display" panose="02010000000000000000" pitchFamily="2" charset="0"/>
                  <a:cs typeface="Arial" panose="020B0604020202020204" pitchFamily="34" charset="0"/>
                </a:rPr>
                <a:t>KOFFI Junior Elie</a:t>
              </a:r>
            </a:p>
            <a:p>
              <a:pPr>
                <a:lnSpc>
                  <a:spcPts val="2000"/>
                </a:lnSpc>
              </a:pPr>
              <a:r>
                <a:rPr lang="fr-CI" sz="1200" b="1" dirty="0">
                  <a:latin typeface="Arial" panose="020B0604020202020204" pitchFamily="34" charset="0"/>
                  <a:ea typeface="ADLaM Display" panose="02010000000000000000" pitchFamily="2" charset="0"/>
                  <a:cs typeface="Arial" panose="020B0604020202020204" pitchFamily="34" charset="0"/>
                </a:rPr>
                <a:t>N'GNAMIEN Dongo Guy Serge</a:t>
              </a:r>
            </a:p>
            <a:p>
              <a:pPr>
                <a:lnSpc>
                  <a:spcPts val="2000"/>
                </a:lnSpc>
              </a:pPr>
              <a:r>
                <a:rPr lang="fr-CI" sz="1200" b="1" dirty="0">
                  <a:latin typeface="Arial" panose="020B0604020202020204" pitchFamily="34" charset="0"/>
                  <a:ea typeface="ADLaM Display" panose="02010000000000000000" pitchFamily="2" charset="0"/>
                  <a:cs typeface="Arial" panose="020B0604020202020204" pitchFamily="34" charset="0"/>
                </a:rPr>
                <a:t>KONE Abdoul Karim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E35FB58-163B-48AE-EC0D-56F850DAF054}"/>
                </a:ext>
              </a:extLst>
            </p:cNvPr>
            <p:cNvSpPr/>
            <p:nvPr/>
          </p:nvSpPr>
          <p:spPr>
            <a:xfrm>
              <a:off x="4868430" y="983986"/>
              <a:ext cx="329184" cy="1007320"/>
            </a:xfrm>
            <a:prstGeom prst="rect">
              <a:avLst/>
            </a:prstGeom>
            <a:solidFill>
              <a:srgbClr val="0F25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0BC22D32-6441-13F5-71FC-BCBCC594CCB9}"/>
              </a:ext>
            </a:extLst>
          </p:cNvPr>
          <p:cNvSpPr/>
          <p:nvPr/>
        </p:nvSpPr>
        <p:spPr>
          <a:xfrm>
            <a:off x="4773168" y="2361361"/>
            <a:ext cx="3959352" cy="658368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EBC04FC-D498-9EF4-F5C6-068BD7BD74A7}"/>
              </a:ext>
            </a:extLst>
          </p:cNvPr>
          <p:cNvSpPr/>
          <p:nvPr/>
        </p:nvSpPr>
        <p:spPr>
          <a:xfrm>
            <a:off x="4773168" y="2361361"/>
            <a:ext cx="64008" cy="6583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54B388A-0034-F91F-A430-5834B45D66AD}"/>
              </a:ext>
            </a:extLst>
          </p:cNvPr>
          <p:cNvSpPr/>
          <p:nvPr/>
        </p:nvSpPr>
        <p:spPr>
          <a:xfrm>
            <a:off x="4882896" y="2489377"/>
            <a:ext cx="329184" cy="32918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218569D8-BABF-20E0-0E02-2F93D92257E0}"/>
              </a:ext>
            </a:extLst>
          </p:cNvPr>
          <p:cNvSpPr txBox="1"/>
          <p:nvPr/>
        </p:nvSpPr>
        <p:spPr>
          <a:xfrm>
            <a:off x="5285232" y="2416225"/>
            <a:ext cx="2697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900" b="1" i="0" noProof="0" dirty="0">
                <a:latin typeface="Arial"/>
              </a:rPr>
              <a:t>ENSEIGNANT</a:t>
            </a:r>
            <a:endParaRPr lang="fr-FR" sz="1000" b="1" i="0" noProof="0" dirty="0">
              <a:latin typeface="Arial"/>
            </a:endParaRP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7DE07DAD-BA72-4822-2C66-017DCCF78892}"/>
              </a:ext>
            </a:extLst>
          </p:cNvPr>
          <p:cNvSpPr txBox="1"/>
          <p:nvPr/>
        </p:nvSpPr>
        <p:spPr>
          <a:xfrm>
            <a:off x="5285232" y="2617393"/>
            <a:ext cx="2697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1" i="0" noProof="0" dirty="0">
                <a:solidFill>
                  <a:srgbClr val="0F172A"/>
                </a:solidFill>
                <a:latin typeface="Arial"/>
              </a:rPr>
              <a:t>Dr. ATTA </a:t>
            </a:r>
            <a:r>
              <a:rPr lang="fr-FR" sz="1200" b="1" i="0" noProof="0" dirty="0" err="1">
                <a:solidFill>
                  <a:srgbClr val="0F172A"/>
                </a:solidFill>
                <a:latin typeface="Arial"/>
              </a:rPr>
              <a:t>Amanvon</a:t>
            </a:r>
            <a:r>
              <a:rPr lang="fr-FR" sz="1200" b="1" i="0" noProof="0" dirty="0">
                <a:solidFill>
                  <a:srgbClr val="0F172A"/>
                </a:solidFill>
                <a:latin typeface="Arial"/>
              </a:rPr>
              <a:t> Ferdinand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F6282F2-A129-F1AD-1704-1AD1D0BFEF5C}"/>
              </a:ext>
            </a:extLst>
          </p:cNvPr>
          <p:cNvSpPr/>
          <p:nvPr/>
        </p:nvSpPr>
        <p:spPr>
          <a:xfrm flipV="1">
            <a:off x="4772677" y="2326031"/>
            <a:ext cx="3952533" cy="4571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B651426-4D1F-2B37-9680-4225CFCEE069}"/>
              </a:ext>
            </a:extLst>
          </p:cNvPr>
          <p:cNvSpPr/>
          <p:nvPr/>
        </p:nvSpPr>
        <p:spPr>
          <a:xfrm>
            <a:off x="4755293" y="3231398"/>
            <a:ext cx="3959430" cy="658368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506FF25-E769-DB41-AA4B-4541C4BB8BF9}"/>
              </a:ext>
            </a:extLst>
          </p:cNvPr>
          <p:cNvSpPr/>
          <p:nvPr/>
        </p:nvSpPr>
        <p:spPr>
          <a:xfrm>
            <a:off x="4755293" y="3231398"/>
            <a:ext cx="64008" cy="6583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859C17A-50B9-A48F-B2FA-9ECAC443FF2F}"/>
              </a:ext>
            </a:extLst>
          </p:cNvPr>
          <p:cNvSpPr/>
          <p:nvPr/>
        </p:nvSpPr>
        <p:spPr>
          <a:xfrm>
            <a:off x="4865021" y="3359414"/>
            <a:ext cx="329184" cy="32918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2" name="TextBox 46">
            <a:extLst>
              <a:ext uri="{FF2B5EF4-FFF2-40B4-BE49-F238E27FC236}">
                <a16:creationId xmlns:a16="http://schemas.microsoft.com/office/drawing/2014/main" id="{77295FAB-5239-0CD9-F9F7-718B0B893066}"/>
              </a:ext>
            </a:extLst>
          </p:cNvPr>
          <p:cNvSpPr txBox="1"/>
          <p:nvPr/>
        </p:nvSpPr>
        <p:spPr>
          <a:xfrm>
            <a:off x="5267357" y="3286262"/>
            <a:ext cx="2697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900" b="1" i="0" noProof="0" dirty="0">
                <a:latin typeface="Arial"/>
              </a:rPr>
              <a:t>ANNÉE</a:t>
            </a:r>
          </a:p>
        </p:txBody>
      </p:sp>
      <p:sp>
        <p:nvSpPr>
          <p:cNvPr id="73" name="TextBox 47">
            <a:extLst>
              <a:ext uri="{FF2B5EF4-FFF2-40B4-BE49-F238E27FC236}">
                <a16:creationId xmlns:a16="http://schemas.microsoft.com/office/drawing/2014/main" id="{69AAAE2C-2630-E10C-8EA0-8BA48D89CB5E}"/>
              </a:ext>
            </a:extLst>
          </p:cNvPr>
          <p:cNvSpPr txBox="1"/>
          <p:nvPr/>
        </p:nvSpPr>
        <p:spPr>
          <a:xfrm>
            <a:off x="5267357" y="348743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950" b="1" i="0" noProof="0" dirty="0">
                <a:solidFill>
                  <a:srgbClr val="0F172A"/>
                </a:solidFill>
                <a:latin typeface="Arial"/>
              </a:rPr>
              <a:t>2025 – 2026  ·  Semestre 3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CB7C0F9-D479-B296-C023-8EC9C5D84CB6}"/>
              </a:ext>
            </a:extLst>
          </p:cNvPr>
          <p:cNvSpPr/>
          <p:nvPr/>
        </p:nvSpPr>
        <p:spPr>
          <a:xfrm flipV="1">
            <a:off x="4754880" y="3194176"/>
            <a:ext cx="3952533" cy="4571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5" name="TextBox 31">
            <a:extLst>
              <a:ext uri="{FF2B5EF4-FFF2-40B4-BE49-F238E27FC236}">
                <a16:creationId xmlns:a16="http://schemas.microsoft.com/office/drawing/2014/main" id="{F00C942B-955E-8D56-AF25-E72457C6C526}"/>
              </a:ext>
            </a:extLst>
          </p:cNvPr>
          <p:cNvSpPr txBox="1"/>
          <p:nvPr/>
        </p:nvSpPr>
        <p:spPr>
          <a:xfrm>
            <a:off x="4599742" y="318125"/>
            <a:ext cx="4160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i="0" noProof="0" dirty="0">
                <a:solidFill>
                  <a:srgbClr val="0F2557"/>
                </a:solidFill>
                <a:latin typeface="Arial"/>
              </a:rPr>
              <a:t>PROGRAMATION RESEAU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PRÉSENTATION</a:t>
            </a:r>
            <a:endParaRPr lang="fr-FR" sz="2000" noProof="0" dirty="0"/>
          </a:p>
        </p:txBody>
      </p:sp>
      <p:sp>
        <p:nvSpPr>
          <p:cNvPr id="48" name="Shape 1">
            <a:extLst>
              <a:ext uri="{FF2B5EF4-FFF2-40B4-BE49-F238E27FC236}">
                <a16:creationId xmlns:a16="http://schemas.microsoft.com/office/drawing/2014/main" id="{1FA9DE31-F591-AF73-B811-2DA7D1654A5F}"/>
              </a:ext>
            </a:extLst>
          </p:cNvPr>
          <p:cNvSpPr/>
          <p:nvPr/>
        </p:nvSpPr>
        <p:spPr>
          <a:xfrm>
            <a:off x="0" y="108855"/>
            <a:ext cx="201168" cy="54951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3631E285-33A9-CDD0-7074-F7A970642957}"/>
              </a:ext>
            </a:extLst>
          </p:cNvPr>
          <p:cNvGrpSpPr/>
          <p:nvPr/>
        </p:nvGrpSpPr>
        <p:grpSpPr>
          <a:xfrm>
            <a:off x="320040" y="977535"/>
            <a:ext cx="3764280" cy="804672"/>
            <a:chOff x="320040" y="868680"/>
            <a:chExt cx="2651760" cy="804672"/>
          </a:xfrm>
        </p:grpSpPr>
        <p:sp>
          <p:nvSpPr>
            <p:cNvPr id="51" name="Shape 5">
              <a:extLst>
                <a:ext uri="{FF2B5EF4-FFF2-40B4-BE49-F238E27FC236}">
                  <a16:creationId xmlns:a16="http://schemas.microsoft.com/office/drawing/2014/main" id="{4D19E28B-B5E6-783A-B7E6-547FDD9109BE}"/>
                </a:ext>
              </a:extLst>
            </p:cNvPr>
            <p:cNvSpPr/>
            <p:nvPr/>
          </p:nvSpPr>
          <p:spPr>
            <a:xfrm>
              <a:off x="320040" y="868680"/>
              <a:ext cx="2651760" cy="8046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2" name="Shape 6">
              <a:extLst>
                <a:ext uri="{FF2B5EF4-FFF2-40B4-BE49-F238E27FC236}">
                  <a16:creationId xmlns:a16="http://schemas.microsoft.com/office/drawing/2014/main" id="{D26109DE-F737-702D-E4A5-4E3DD509BBAF}"/>
                </a:ext>
              </a:extLst>
            </p:cNvPr>
            <p:cNvSpPr/>
            <p:nvPr/>
          </p:nvSpPr>
          <p:spPr>
            <a:xfrm>
              <a:off x="320040" y="868680"/>
              <a:ext cx="109728" cy="804672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3" name="Text 8">
              <a:extLst>
                <a:ext uri="{FF2B5EF4-FFF2-40B4-BE49-F238E27FC236}">
                  <a16:creationId xmlns:a16="http://schemas.microsoft.com/office/drawing/2014/main" id="{A960CEA6-FB2D-6D25-539E-3D5043E37A77}"/>
                </a:ext>
              </a:extLst>
            </p:cNvPr>
            <p:cNvSpPr/>
            <p:nvPr/>
          </p:nvSpPr>
          <p:spPr>
            <a:xfrm>
              <a:off x="521208" y="1133856"/>
              <a:ext cx="23591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fr-FR" sz="1300" b="1" noProof="0" dirty="0">
                  <a:solidFill>
                    <a:srgbClr val="0891B2"/>
                  </a:solidFill>
                  <a:latin typeface="Avenir Next LT Pro Demi" panose="020F0502020204030204" pitchFamily="34" charset="0"/>
                </a:rPr>
                <a:t>01. </a:t>
              </a:r>
              <a:r>
                <a:rPr lang="fr-FR" sz="1300" noProof="0" dirty="0">
                  <a:solidFill>
                    <a:srgbClr val="1E293B"/>
                  </a:solidFill>
                  <a:latin typeface="Avenir Next LT Pro Demi" panose="020F0502020204030204" pitchFamily="34" charset="0"/>
                </a:rPr>
                <a:t>Contexte et problématique</a:t>
              </a:r>
              <a:endParaRPr lang="fr-FR" sz="1300" noProof="0" dirty="0">
                <a:latin typeface="Avenir Next LT Pro Demi" panose="020F0502020204030204" pitchFamily="34" charset="0"/>
              </a:endParaRPr>
            </a:p>
          </p:txBody>
        </p:sp>
      </p:grpSp>
      <p:sp>
        <p:nvSpPr>
          <p:cNvPr id="54" name="Text 11">
            <a:extLst>
              <a:ext uri="{FF2B5EF4-FFF2-40B4-BE49-F238E27FC236}">
                <a16:creationId xmlns:a16="http://schemas.microsoft.com/office/drawing/2014/main" id="{42E5F14F-BC88-972B-CFA4-336AB1F24547}"/>
              </a:ext>
            </a:extLst>
          </p:cNvPr>
          <p:cNvSpPr/>
          <p:nvPr/>
        </p:nvSpPr>
        <p:spPr>
          <a:xfrm>
            <a:off x="484632" y="1974231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fr-FR" sz="1300" noProof="0" dirty="0">
              <a:latin typeface="Avenir Next LT Pro Demi" panose="020F0502020204030204" pitchFamily="34" charset="0"/>
            </a:endParaRPr>
          </a:p>
        </p:txBody>
      </p: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D08EEA16-A69B-D595-C759-6376D2D6BB7D}"/>
              </a:ext>
            </a:extLst>
          </p:cNvPr>
          <p:cNvGrpSpPr/>
          <p:nvPr/>
        </p:nvGrpSpPr>
        <p:grpSpPr>
          <a:xfrm>
            <a:off x="320040" y="1937655"/>
            <a:ext cx="3764280" cy="804672"/>
            <a:chOff x="320040" y="1828800"/>
            <a:chExt cx="2651760" cy="804672"/>
          </a:xfrm>
        </p:grpSpPr>
        <p:sp>
          <p:nvSpPr>
            <p:cNvPr id="56" name="Shape 9">
              <a:extLst>
                <a:ext uri="{FF2B5EF4-FFF2-40B4-BE49-F238E27FC236}">
                  <a16:creationId xmlns:a16="http://schemas.microsoft.com/office/drawing/2014/main" id="{D46F8B4D-77EA-D07E-BD8D-05BE8AFDEBCC}"/>
                </a:ext>
              </a:extLst>
            </p:cNvPr>
            <p:cNvSpPr/>
            <p:nvPr/>
          </p:nvSpPr>
          <p:spPr>
            <a:xfrm>
              <a:off x="320040" y="1828800"/>
              <a:ext cx="2651760" cy="8046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7" name="Shape 10">
              <a:extLst>
                <a:ext uri="{FF2B5EF4-FFF2-40B4-BE49-F238E27FC236}">
                  <a16:creationId xmlns:a16="http://schemas.microsoft.com/office/drawing/2014/main" id="{20F0BB5B-92A5-065F-A9E4-C9D06F2F927A}"/>
                </a:ext>
              </a:extLst>
            </p:cNvPr>
            <p:cNvSpPr/>
            <p:nvPr/>
          </p:nvSpPr>
          <p:spPr>
            <a:xfrm>
              <a:off x="320040" y="1828800"/>
              <a:ext cx="109728" cy="804672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8" name="Text 12">
              <a:extLst>
                <a:ext uri="{FF2B5EF4-FFF2-40B4-BE49-F238E27FC236}">
                  <a16:creationId xmlns:a16="http://schemas.microsoft.com/office/drawing/2014/main" id="{DB5D473E-6024-45C7-AA17-B7DD28897956}"/>
                </a:ext>
              </a:extLst>
            </p:cNvPr>
            <p:cNvSpPr/>
            <p:nvPr/>
          </p:nvSpPr>
          <p:spPr>
            <a:xfrm>
              <a:off x="484632" y="2103120"/>
              <a:ext cx="23591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fr-FR" sz="1300" b="1" noProof="0" dirty="0">
                  <a:solidFill>
                    <a:srgbClr val="0891B2"/>
                  </a:solidFill>
                  <a:latin typeface="Avenir Next LT Pro Demi" panose="020F0502020204030204" pitchFamily="34" charset="0"/>
                </a:rPr>
                <a:t>02. </a:t>
              </a:r>
              <a:r>
                <a:rPr lang="fr-FR" sz="1300" noProof="0" dirty="0">
                  <a:solidFill>
                    <a:srgbClr val="1E293B"/>
                  </a:solidFill>
                  <a:latin typeface="Avenir Next LT Pro Demi" panose="020F0502020204030204" pitchFamily="34" charset="0"/>
                </a:rPr>
                <a:t>Objectifs du projet</a:t>
              </a:r>
              <a:endParaRPr lang="fr-FR" sz="1300" noProof="0" dirty="0">
                <a:latin typeface="Avenir Next LT Pro Demi" panose="020F0502020204030204" pitchFamily="34" charset="0"/>
              </a:endParaRPr>
            </a:p>
          </p:txBody>
        </p:sp>
      </p:grpSp>
      <p:sp>
        <p:nvSpPr>
          <p:cNvPr id="59" name="Text 15">
            <a:extLst>
              <a:ext uri="{FF2B5EF4-FFF2-40B4-BE49-F238E27FC236}">
                <a16:creationId xmlns:a16="http://schemas.microsoft.com/office/drawing/2014/main" id="{79F62B3D-0C49-DBC3-9FC8-C2B7F910CF42}"/>
              </a:ext>
            </a:extLst>
          </p:cNvPr>
          <p:cNvSpPr/>
          <p:nvPr/>
        </p:nvSpPr>
        <p:spPr>
          <a:xfrm>
            <a:off x="484632" y="2934351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fr-FR" sz="1300" noProof="0" dirty="0">
              <a:latin typeface="Avenir Next LT Pro Demi" panose="020F0502020204030204" pitchFamily="34" charset="0"/>
            </a:endParaRP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86B34671-F753-BB53-7075-9742C280EFFD}"/>
              </a:ext>
            </a:extLst>
          </p:cNvPr>
          <p:cNvGrpSpPr/>
          <p:nvPr/>
        </p:nvGrpSpPr>
        <p:grpSpPr>
          <a:xfrm>
            <a:off x="320040" y="2897775"/>
            <a:ext cx="3764280" cy="804672"/>
            <a:chOff x="320040" y="2788920"/>
            <a:chExt cx="2651760" cy="804672"/>
          </a:xfrm>
        </p:grpSpPr>
        <p:sp>
          <p:nvSpPr>
            <p:cNvPr id="61" name="Shape 13">
              <a:extLst>
                <a:ext uri="{FF2B5EF4-FFF2-40B4-BE49-F238E27FC236}">
                  <a16:creationId xmlns:a16="http://schemas.microsoft.com/office/drawing/2014/main" id="{FB88F67F-7807-68B0-1E72-C3BC2D7EA080}"/>
                </a:ext>
              </a:extLst>
            </p:cNvPr>
            <p:cNvSpPr/>
            <p:nvPr/>
          </p:nvSpPr>
          <p:spPr>
            <a:xfrm>
              <a:off x="320040" y="2788920"/>
              <a:ext cx="2651760" cy="8046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2" name="Shape 14">
              <a:extLst>
                <a:ext uri="{FF2B5EF4-FFF2-40B4-BE49-F238E27FC236}">
                  <a16:creationId xmlns:a16="http://schemas.microsoft.com/office/drawing/2014/main" id="{0AEF0268-6EB6-91E3-3395-BBE4CE8D87B5}"/>
                </a:ext>
              </a:extLst>
            </p:cNvPr>
            <p:cNvSpPr/>
            <p:nvPr/>
          </p:nvSpPr>
          <p:spPr>
            <a:xfrm>
              <a:off x="320040" y="2788920"/>
              <a:ext cx="109728" cy="804672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3" name="Text 16">
              <a:extLst>
                <a:ext uri="{FF2B5EF4-FFF2-40B4-BE49-F238E27FC236}">
                  <a16:creationId xmlns:a16="http://schemas.microsoft.com/office/drawing/2014/main" id="{A3363BF4-AEB0-C087-A3BB-31CB06EE9699}"/>
                </a:ext>
              </a:extLst>
            </p:cNvPr>
            <p:cNvSpPr/>
            <p:nvPr/>
          </p:nvSpPr>
          <p:spPr>
            <a:xfrm>
              <a:off x="484632" y="3075432"/>
              <a:ext cx="23591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fr-FR" sz="1300" b="1" noProof="0" dirty="0">
                  <a:solidFill>
                    <a:srgbClr val="0891B2"/>
                  </a:solidFill>
                  <a:latin typeface="Avenir Next LT Pro Demi" panose="020F0502020204030204" pitchFamily="34" charset="0"/>
                </a:rPr>
                <a:t>03. </a:t>
              </a:r>
              <a:r>
                <a:rPr lang="fr-FR" sz="1300" noProof="0" dirty="0">
                  <a:solidFill>
                    <a:srgbClr val="1E293B"/>
                  </a:solidFill>
                  <a:latin typeface="Avenir Next LT Pro Demi" panose="020F0502020204030204" pitchFamily="34" charset="0"/>
                </a:rPr>
                <a:t>Architecture de la solution</a:t>
              </a:r>
              <a:endParaRPr lang="fr-FR" sz="1300" noProof="0" dirty="0">
                <a:latin typeface="Avenir Next LT Pro Demi" panose="020F0502020204030204" pitchFamily="34" charset="0"/>
              </a:endParaRP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064B185D-DD28-32AB-BEE3-ADE611B8F9C3}"/>
              </a:ext>
            </a:extLst>
          </p:cNvPr>
          <p:cNvGrpSpPr/>
          <p:nvPr/>
        </p:nvGrpSpPr>
        <p:grpSpPr>
          <a:xfrm>
            <a:off x="5391334" y="977535"/>
            <a:ext cx="3147060" cy="804672"/>
            <a:chOff x="6172200" y="868680"/>
            <a:chExt cx="2651760" cy="804672"/>
          </a:xfrm>
        </p:grpSpPr>
        <p:sp>
          <p:nvSpPr>
            <p:cNvPr id="65" name="Shape 33">
              <a:extLst>
                <a:ext uri="{FF2B5EF4-FFF2-40B4-BE49-F238E27FC236}">
                  <a16:creationId xmlns:a16="http://schemas.microsoft.com/office/drawing/2014/main" id="{86545EDD-6C50-F8F2-556D-6ECF770E9BE8}"/>
                </a:ext>
              </a:extLst>
            </p:cNvPr>
            <p:cNvSpPr/>
            <p:nvPr/>
          </p:nvSpPr>
          <p:spPr>
            <a:xfrm>
              <a:off x="6172200" y="868680"/>
              <a:ext cx="2651760" cy="8046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6" name="Shape 34">
              <a:extLst>
                <a:ext uri="{FF2B5EF4-FFF2-40B4-BE49-F238E27FC236}">
                  <a16:creationId xmlns:a16="http://schemas.microsoft.com/office/drawing/2014/main" id="{94E0FE7F-2B3B-19BB-06D6-3DDB3664BF21}"/>
                </a:ext>
              </a:extLst>
            </p:cNvPr>
            <p:cNvSpPr/>
            <p:nvPr/>
          </p:nvSpPr>
          <p:spPr>
            <a:xfrm>
              <a:off x="6172200" y="868680"/>
              <a:ext cx="109728" cy="804672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7" name="Text 36">
              <a:extLst>
                <a:ext uri="{FF2B5EF4-FFF2-40B4-BE49-F238E27FC236}">
                  <a16:creationId xmlns:a16="http://schemas.microsoft.com/office/drawing/2014/main" id="{9943D1C0-BB7A-EA86-FF76-9DE3E94A2182}"/>
                </a:ext>
              </a:extLst>
            </p:cNvPr>
            <p:cNvSpPr/>
            <p:nvPr/>
          </p:nvSpPr>
          <p:spPr>
            <a:xfrm>
              <a:off x="6336792" y="1147572"/>
              <a:ext cx="23591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fr-FR" sz="1300" b="1" noProof="0" dirty="0">
                  <a:solidFill>
                    <a:srgbClr val="0891B2"/>
                  </a:solidFill>
                  <a:latin typeface="Avenir Next LT Pro Demi" panose="020F0502020204030204" pitchFamily="34" charset="0"/>
                </a:rPr>
                <a:t>05. </a:t>
              </a:r>
              <a:r>
                <a:rPr lang="fr-FR" sz="1300" noProof="0" dirty="0">
                  <a:solidFill>
                    <a:srgbClr val="1E293B"/>
                  </a:solidFill>
                  <a:latin typeface="Avenir Next LT Pro Demi" panose="020F0502020204030204" pitchFamily="34" charset="0"/>
                </a:rPr>
                <a:t>Tests réalisés</a:t>
              </a:r>
              <a:endParaRPr lang="fr-FR" sz="1300" noProof="0" dirty="0">
                <a:latin typeface="Avenir Next LT Pro Demi" panose="020F0502020204030204" pitchFamily="34" charset="0"/>
              </a:endParaRPr>
            </a:p>
          </p:txBody>
        </p:sp>
      </p:grp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6C26CBAF-8D5B-5D75-A11D-0A521D6A0D14}"/>
              </a:ext>
            </a:extLst>
          </p:cNvPr>
          <p:cNvGrpSpPr/>
          <p:nvPr/>
        </p:nvGrpSpPr>
        <p:grpSpPr>
          <a:xfrm>
            <a:off x="5391334" y="1937655"/>
            <a:ext cx="3147060" cy="804672"/>
            <a:chOff x="6172200" y="1828800"/>
            <a:chExt cx="2651760" cy="804672"/>
          </a:xfrm>
        </p:grpSpPr>
        <p:sp>
          <p:nvSpPr>
            <p:cNvPr id="69" name="Shape 37">
              <a:extLst>
                <a:ext uri="{FF2B5EF4-FFF2-40B4-BE49-F238E27FC236}">
                  <a16:creationId xmlns:a16="http://schemas.microsoft.com/office/drawing/2014/main" id="{59078CA2-DB6F-4ACC-A1C9-553E43AC4D4E}"/>
                </a:ext>
              </a:extLst>
            </p:cNvPr>
            <p:cNvSpPr/>
            <p:nvPr/>
          </p:nvSpPr>
          <p:spPr>
            <a:xfrm>
              <a:off x="6172200" y="1828800"/>
              <a:ext cx="2651760" cy="8046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0" name="Shape 38">
              <a:extLst>
                <a:ext uri="{FF2B5EF4-FFF2-40B4-BE49-F238E27FC236}">
                  <a16:creationId xmlns:a16="http://schemas.microsoft.com/office/drawing/2014/main" id="{CF1E97E3-B99B-92D3-103A-74BF7518D47E}"/>
                </a:ext>
              </a:extLst>
            </p:cNvPr>
            <p:cNvSpPr/>
            <p:nvPr/>
          </p:nvSpPr>
          <p:spPr>
            <a:xfrm>
              <a:off x="6172200" y="1828800"/>
              <a:ext cx="109728" cy="804672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1" name="Text 40">
              <a:extLst>
                <a:ext uri="{FF2B5EF4-FFF2-40B4-BE49-F238E27FC236}">
                  <a16:creationId xmlns:a16="http://schemas.microsoft.com/office/drawing/2014/main" id="{A362231E-CED1-FB79-8ACA-A66847335CF4}"/>
                </a:ext>
              </a:extLst>
            </p:cNvPr>
            <p:cNvSpPr/>
            <p:nvPr/>
          </p:nvSpPr>
          <p:spPr>
            <a:xfrm>
              <a:off x="6336792" y="2135124"/>
              <a:ext cx="23591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fr-FR" sz="1300" b="1" noProof="0" dirty="0">
                  <a:solidFill>
                    <a:srgbClr val="0891B2"/>
                  </a:solidFill>
                  <a:latin typeface="Avenir Next LT Pro Demi" panose="020F0502020204030204" pitchFamily="34" charset="0"/>
                </a:rPr>
                <a:t>06. </a:t>
              </a:r>
              <a:r>
                <a:rPr lang="fr-FR" sz="1300" noProof="0" dirty="0">
                  <a:solidFill>
                    <a:srgbClr val="1E293B"/>
                  </a:solidFill>
                  <a:latin typeface="Avenir Next LT Pro Demi" panose="020F0502020204030204" pitchFamily="34" charset="0"/>
                </a:rPr>
                <a:t>Difficultés</a:t>
              </a:r>
              <a:endParaRPr lang="fr-FR" sz="1300" noProof="0" dirty="0">
                <a:latin typeface="Avenir Next LT Pro Demi" panose="020F0502020204030204" pitchFamily="34" charset="0"/>
              </a:endParaRPr>
            </a:p>
          </p:txBody>
        </p:sp>
      </p:grp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9974AB64-0ACE-63F0-A927-3871E2444586}"/>
              </a:ext>
            </a:extLst>
          </p:cNvPr>
          <p:cNvGrpSpPr/>
          <p:nvPr/>
        </p:nvGrpSpPr>
        <p:grpSpPr>
          <a:xfrm>
            <a:off x="5391334" y="2934351"/>
            <a:ext cx="3147060" cy="804672"/>
            <a:chOff x="6172200" y="2788920"/>
            <a:chExt cx="2651760" cy="804672"/>
          </a:xfrm>
        </p:grpSpPr>
        <p:sp>
          <p:nvSpPr>
            <p:cNvPr id="73" name="Shape 41">
              <a:extLst>
                <a:ext uri="{FF2B5EF4-FFF2-40B4-BE49-F238E27FC236}">
                  <a16:creationId xmlns:a16="http://schemas.microsoft.com/office/drawing/2014/main" id="{6D421037-D02A-66A4-80E7-50B36027040A}"/>
                </a:ext>
              </a:extLst>
            </p:cNvPr>
            <p:cNvSpPr/>
            <p:nvPr/>
          </p:nvSpPr>
          <p:spPr>
            <a:xfrm>
              <a:off x="6172200" y="2788920"/>
              <a:ext cx="2651760" cy="8046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4" name="Shape 42">
              <a:extLst>
                <a:ext uri="{FF2B5EF4-FFF2-40B4-BE49-F238E27FC236}">
                  <a16:creationId xmlns:a16="http://schemas.microsoft.com/office/drawing/2014/main" id="{514D3790-1577-34D6-3D29-BEE68759385E}"/>
                </a:ext>
              </a:extLst>
            </p:cNvPr>
            <p:cNvSpPr/>
            <p:nvPr/>
          </p:nvSpPr>
          <p:spPr>
            <a:xfrm>
              <a:off x="6172200" y="2788920"/>
              <a:ext cx="109728" cy="804672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5" name="Text 44">
              <a:extLst>
                <a:ext uri="{FF2B5EF4-FFF2-40B4-BE49-F238E27FC236}">
                  <a16:creationId xmlns:a16="http://schemas.microsoft.com/office/drawing/2014/main" id="{2760D4FE-0865-76CE-4B0D-5031BD571752}"/>
                </a:ext>
              </a:extLst>
            </p:cNvPr>
            <p:cNvSpPr/>
            <p:nvPr/>
          </p:nvSpPr>
          <p:spPr>
            <a:xfrm>
              <a:off x="6373368" y="3058668"/>
              <a:ext cx="23591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fr-FR" sz="1300" b="1" noProof="0" dirty="0">
                  <a:solidFill>
                    <a:srgbClr val="0891B2"/>
                  </a:solidFill>
                  <a:latin typeface="Avenir Next LT Pro Demi" panose="020F0502020204030204" pitchFamily="34" charset="0"/>
                </a:rPr>
                <a:t>07. </a:t>
              </a:r>
              <a:r>
                <a:rPr lang="fr-FR" sz="1300" noProof="0" dirty="0">
                  <a:solidFill>
                    <a:srgbClr val="1E293B"/>
                  </a:solidFill>
                  <a:latin typeface="Avenir Next LT Pro Demi" panose="020F0502020204030204" pitchFamily="34" charset="0"/>
                </a:rPr>
                <a:t>Conclusion et perspectives</a:t>
              </a:r>
              <a:endParaRPr lang="fr-FR" sz="1300" noProof="0" dirty="0">
                <a:latin typeface="Avenir Next LT Pro Demi" panose="020F0502020204030204" pitchFamily="34" charset="0"/>
              </a:endParaRPr>
            </a:p>
          </p:txBody>
        </p:sp>
      </p:grpSp>
      <p:sp>
        <p:nvSpPr>
          <p:cNvPr id="80" name="Text 19">
            <a:extLst>
              <a:ext uri="{FF2B5EF4-FFF2-40B4-BE49-F238E27FC236}">
                <a16:creationId xmlns:a16="http://schemas.microsoft.com/office/drawing/2014/main" id="{2225CEEF-96E9-B9E1-42B4-69F75062274D}"/>
              </a:ext>
            </a:extLst>
          </p:cNvPr>
          <p:cNvSpPr/>
          <p:nvPr/>
        </p:nvSpPr>
        <p:spPr>
          <a:xfrm>
            <a:off x="484632" y="3953907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fr-FR" sz="1300" noProof="0" dirty="0">
              <a:latin typeface="Avenir Next LT Pro Demi" panose="020F0502020204030204" pitchFamily="34" charset="0"/>
            </a:endParaRPr>
          </a:p>
        </p:txBody>
      </p: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D32D0603-8BD6-0EAA-941B-A264A314B337}"/>
              </a:ext>
            </a:extLst>
          </p:cNvPr>
          <p:cNvGrpSpPr/>
          <p:nvPr/>
        </p:nvGrpSpPr>
        <p:grpSpPr>
          <a:xfrm>
            <a:off x="320040" y="3917331"/>
            <a:ext cx="3764280" cy="804672"/>
            <a:chOff x="320040" y="3808476"/>
            <a:chExt cx="2651760" cy="804672"/>
          </a:xfrm>
        </p:grpSpPr>
        <p:sp>
          <p:nvSpPr>
            <p:cNvPr id="82" name="Shape 17">
              <a:extLst>
                <a:ext uri="{FF2B5EF4-FFF2-40B4-BE49-F238E27FC236}">
                  <a16:creationId xmlns:a16="http://schemas.microsoft.com/office/drawing/2014/main" id="{11F5B126-C8AB-6D9C-4066-D97F8176DD84}"/>
                </a:ext>
              </a:extLst>
            </p:cNvPr>
            <p:cNvSpPr/>
            <p:nvPr/>
          </p:nvSpPr>
          <p:spPr>
            <a:xfrm>
              <a:off x="320040" y="3808476"/>
              <a:ext cx="2651760" cy="8046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3" name="Shape 18">
              <a:extLst>
                <a:ext uri="{FF2B5EF4-FFF2-40B4-BE49-F238E27FC236}">
                  <a16:creationId xmlns:a16="http://schemas.microsoft.com/office/drawing/2014/main" id="{FCA6775B-9770-46B5-CD77-F2FD5A04636C}"/>
                </a:ext>
              </a:extLst>
            </p:cNvPr>
            <p:cNvSpPr/>
            <p:nvPr/>
          </p:nvSpPr>
          <p:spPr>
            <a:xfrm>
              <a:off x="320040" y="3808476"/>
              <a:ext cx="109728" cy="804672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4" name="Text 20">
              <a:extLst>
                <a:ext uri="{FF2B5EF4-FFF2-40B4-BE49-F238E27FC236}">
                  <a16:creationId xmlns:a16="http://schemas.microsoft.com/office/drawing/2014/main" id="{2FC1FCE5-6FB7-C56C-B58B-5DBE9A40AF10}"/>
                </a:ext>
              </a:extLst>
            </p:cNvPr>
            <p:cNvSpPr/>
            <p:nvPr/>
          </p:nvSpPr>
          <p:spPr>
            <a:xfrm>
              <a:off x="484632" y="4062984"/>
              <a:ext cx="23591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fr-FR" sz="1300" b="1" noProof="0" dirty="0">
                  <a:solidFill>
                    <a:srgbClr val="0891B2"/>
                  </a:solidFill>
                  <a:latin typeface="Avenir Next LT Pro Demi" panose="020F0502020204030204" pitchFamily="34" charset="0"/>
                </a:rPr>
                <a:t>04. </a:t>
              </a:r>
              <a:r>
                <a:rPr lang="fr-FR" sz="1300" b="1" noProof="0" dirty="0">
                  <a:latin typeface="Avenir Next LT Pro Demi" panose="020F0502020204030204" pitchFamily="34" charset="0"/>
                </a:rPr>
                <a:t>Modules développés</a:t>
              </a:r>
            </a:p>
            <a:p>
              <a:endParaRPr lang="fr-FR" sz="1300" noProof="0" dirty="0">
                <a:latin typeface="Avenir Next LT Pro Demi" panose="020F0502020204030204" pitchFamily="34" charset="0"/>
              </a:endParaRPr>
            </a:p>
          </p:txBody>
        </p:sp>
      </p:grpSp>
      <p:sp>
        <p:nvSpPr>
          <p:cNvPr id="5" name="Shape 3">
            <a:extLst>
              <a:ext uri="{FF2B5EF4-FFF2-40B4-BE49-F238E27FC236}">
                <a16:creationId xmlns:a16="http://schemas.microsoft.com/office/drawing/2014/main" id="{C9DCC5F7-1883-1CB8-1DFF-612FAA800CD0}"/>
              </a:ext>
            </a:extLst>
          </p:cNvPr>
          <p:cNvSpPr/>
          <p:nvPr/>
        </p:nvSpPr>
        <p:spPr>
          <a:xfrm>
            <a:off x="18288" y="4874480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pPr algn="ctr"/>
            <a:endParaRPr lang="fr-FR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358E42B-0C50-F359-5CE1-5526B8E79A12}"/>
              </a:ext>
            </a:extLst>
          </p:cNvPr>
          <p:cNvSpPr/>
          <p:nvPr/>
        </p:nvSpPr>
        <p:spPr>
          <a:xfrm>
            <a:off x="292608" y="48744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 CONTEXTE ET PROBLÉMATIQUE</a:t>
            </a:r>
            <a:endParaRPr lang="fr-FR" sz="2000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48828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73152" cy="1874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420624" y="850392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numérique des PME</a:t>
            </a:r>
            <a:endParaRPr lang="fr-FR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420624" y="1069848"/>
            <a:ext cx="37764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fr-FR" sz="12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Les petites et moyennes entreprises de Côte d'Ivoire cherchent à digitaliser leur activité commerciale. La gestion manuelle (cahiers, Excel) engendre des erreurs de stock, des factures perdues et l'impossibilité de suivre la performance en temps réel.</a:t>
            </a:r>
            <a:endParaRPr lang="fr-FR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274320" y="2862072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274320" y="2862072"/>
            <a:ext cx="73152" cy="1874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420624" y="2935224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d’un outil </a:t>
            </a:r>
            <a:r>
              <a:rPr lang="fr-FR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r>
              <a:rPr lang="fr-FR" sz="14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étier </a:t>
            </a:r>
            <a:r>
              <a:rPr lang="fr-FR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fr-FR" sz="1400" b="1" noProof="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dapté</a:t>
            </a:r>
            <a:endParaRPr lang="fr-FR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420624" y="3154680"/>
            <a:ext cx="37764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fr-FR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Il existe une nécessité de développer</a:t>
            </a:r>
            <a:r>
              <a:rPr lang="fr-FR" sz="12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 des outils de gestion commerciale adapté au contexte ivoirien (FCFA, TVA 18 %, génération de factures PDF) et déployable sans connexion internet permanente.</a:t>
            </a:r>
            <a:endParaRPr lang="fr-F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4480560" y="777240"/>
            <a:ext cx="4389120" cy="3816531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4663440" y="14839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200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fr-FR" sz="1300" noProof="0" dirty="0"/>
          </a:p>
        </p:txBody>
      </p:sp>
      <p:sp>
        <p:nvSpPr>
          <p:cNvPr id="17" name="Shape 15"/>
          <p:cNvSpPr/>
          <p:nvPr/>
        </p:nvSpPr>
        <p:spPr>
          <a:xfrm>
            <a:off x="4663440" y="1831412"/>
            <a:ext cx="39319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663440" y="194114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fr-F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concevoir une application bureau complète, en Python, permettant à une petite entreprise de gérer ses clients, produits, stocks et ventes avec séсurité?</a:t>
            </a:r>
            <a:endParaRPr lang="fr-FR" sz="1400" noProof="0" dirty="0"/>
          </a:p>
        </p:txBody>
      </p:sp>
      <p:sp>
        <p:nvSpPr>
          <p:cNvPr id="19" name="Shape 17"/>
          <p:cNvSpPr/>
          <p:nvPr/>
        </p:nvSpPr>
        <p:spPr>
          <a:xfrm>
            <a:off x="4663440" y="3493592"/>
            <a:ext cx="39319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E4457AEE-09CC-3F7D-1D6D-357440E0E5BA}"/>
              </a:ext>
            </a:extLst>
          </p:cNvPr>
          <p:cNvSpPr/>
          <p:nvPr/>
        </p:nvSpPr>
        <p:spPr>
          <a:xfrm>
            <a:off x="18288" y="4874480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pPr algn="ctr"/>
            <a:endParaRPr lang="fr-FR" noProof="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A9F95829-35B0-55C8-5B02-09015CB09CB7}"/>
              </a:ext>
            </a:extLst>
          </p:cNvPr>
          <p:cNvSpPr/>
          <p:nvPr/>
        </p:nvSpPr>
        <p:spPr>
          <a:xfrm>
            <a:off x="292608" y="48744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 OBJECTIFS DU PROJET</a:t>
            </a:r>
            <a:endParaRPr lang="fr-FR" sz="2000" noProof="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pPr algn="ctr"/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48828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7132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GÉNÉRAL</a:t>
            </a:r>
            <a:endParaRPr lang="fr-F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2560320" y="960120"/>
            <a:ext cx="36576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2706624" y="822960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fr-FR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 et implémenter un Système de Gestion Commerciale (SGC) complet, en Python/PyQt6, respectant une architecture 3-tiers, avec sécurité, performance et déploiement Windows.</a:t>
            </a:r>
            <a:endParaRPr lang="fr-FR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274320" y="16459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kern="0" spc="100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PÉDAGOGIQUES SPÉCIFIQUES</a:t>
            </a:r>
            <a:endParaRPr lang="fr-FR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274320" y="202996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274320" y="2029968"/>
            <a:ext cx="2633472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/>
          <p:cNvSpPr/>
          <p:nvPr/>
        </p:nvSpPr>
        <p:spPr>
          <a:xfrm>
            <a:off x="384048" y="2167128"/>
            <a:ext cx="347472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384048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fr-FR" sz="1300" noProof="0" dirty="0"/>
          </a:p>
        </p:txBody>
      </p:sp>
      <p:sp>
        <p:nvSpPr>
          <p:cNvPr id="16" name="Text 14"/>
          <p:cNvSpPr/>
          <p:nvPr/>
        </p:nvSpPr>
        <p:spPr>
          <a:xfrm>
            <a:off x="804672" y="218541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3-tiers</a:t>
            </a:r>
            <a:endParaRPr lang="fr-FR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402336" y="2523744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Implémenter une séparation stricte Vues / Contrôleurs / Modèles. Aucun accès BDD depuis les vues.</a:t>
            </a:r>
            <a:endParaRPr lang="fr-FR" sz="900" noProof="0" dirty="0"/>
          </a:p>
        </p:txBody>
      </p:sp>
      <p:sp>
        <p:nvSpPr>
          <p:cNvPr id="18" name="Shape 16"/>
          <p:cNvSpPr/>
          <p:nvPr/>
        </p:nvSpPr>
        <p:spPr>
          <a:xfrm>
            <a:off x="3063240" y="202996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7"/>
          <p:cNvSpPr/>
          <p:nvPr/>
        </p:nvSpPr>
        <p:spPr>
          <a:xfrm>
            <a:off x="3063240" y="2029968"/>
            <a:ext cx="2633472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3172968" y="2167128"/>
            <a:ext cx="347472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3172968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fr-FR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3593592" y="218541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applicative</a:t>
            </a:r>
            <a:endParaRPr lang="fr-FR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3191256" y="2523744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Mots de passe </a:t>
            </a:r>
            <a:r>
              <a:rPr lang="fr-FR" sz="9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r>
              <a:rPr lang="fr-FR" sz="9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, requêtes paramétrées, RBAC 3 rôles, timeout session 15 minutes.</a:t>
            </a:r>
            <a:endParaRPr lang="fr-FR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5852160" y="202996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3"/>
          <p:cNvSpPr/>
          <p:nvPr/>
        </p:nvSpPr>
        <p:spPr>
          <a:xfrm>
            <a:off x="5852160" y="2029968"/>
            <a:ext cx="2633472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5961888" y="2167128"/>
            <a:ext cx="347472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5961888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fr-FR" sz="1300" noProof="0" dirty="0"/>
          </a:p>
        </p:txBody>
      </p:sp>
      <p:sp>
        <p:nvSpPr>
          <p:cNvPr id="28" name="Text 26"/>
          <p:cNvSpPr/>
          <p:nvPr/>
        </p:nvSpPr>
        <p:spPr>
          <a:xfrm>
            <a:off x="6382512" y="21854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commerciale complète</a:t>
            </a:r>
            <a:endParaRPr lang="fr-FR" sz="1100" noProof="0" dirty="0"/>
          </a:p>
        </p:txBody>
      </p:sp>
      <p:sp>
        <p:nvSpPr>
          <p:cNvPr id="29" name="Text 27"/>
          <p:cNvSpPr/>
          <p:nvPr/>
        </p:nvSpPr>
        <p:spPr>
          <a:xfrm>
            <a:off x="5980176" y="2523744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6 modules : </a:t>
            </a:r>
            <a:r>
              <a:rPr lang="fr-FR" sz="9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r>
              <a:rPr lang="fr-FR" sz="9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, Clients, Produits, Ventes, Statistiques, Paramètres avec règles métier.</a:t>
            </a:r>
            <a:endParaRPr lang="fr-FR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274320" y="3273552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9"/>
          <p:cNvSpPr/>
          <p:nvPr/>
        </p:nvSpPr>
        <p:spPr>
          <a:xfrm>
            <a:off x="274320" y="3273552"/>
            <a:ext cx="2633472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30"/>
          <p:cNvSpPr/>
          <p:nvPr/>
        </p:nvSpPr>
        <p:spPr>
          <a:xfrm>
            <a:off x="384048" y="3410712"/>
            <a:ext cx="347472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384048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fr-FR" sz="1300" noProof="0" dirty="0"/>
          </a:p>
        </p:txBody>
      </p:sp>
      <p:sp>
        <p:nvSpPr>
          <p:cNvPr id="34" name="Text 32"/>
          <p:cNvSpPr/>
          <p:nvPr/>
        </p:nvSpPr>
        <p:spPr>
          <a:xfrm>
            <a:off x="804672" y="342900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de documents</a:t>
            </a:r>
            <a:endParaRPr lang="fr-FR" sz="1100" noProof="0" dirty="0"/>
          </a:p>
        </p:txBody>
      </p:sp>
      <p:sp>
        <p:nvSpPr>
          <p:cNvPr id="35" name="Text 33"/>
          <p:cNvSpPr/>
          <p:nvPr/>
        </p:nvSpPr>
        <p:spPr>
          <a:xfrm>
            <a:off x="402336" y="3767328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Factures PDF avec </a:t>
            </a:r>
            <a:r>
              <a:rPr lang="fr-FR" sz="9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ReportLab</a:t>
            </a:r>
            <a:r>
              <a:rPr lang="fr-FR" sz="9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, exports Excel </a:t>
            </a:r>
            <a:r>
              <a:rPr lang="fr-FR" sz="9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openpyxl</a:t>
            </a:r>
            <a:r>
              <a:rPr lang="fr-FR" sz="9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, rapports statistiques.</a:t>
            </a:r>
            <a:endParaRPr lang="fr-FR" sz="900" noProof="0" dirty="0"/>
          </a:p>
        </p:txBody>
      </p:sp>
      <p:sp>
        <p:nvSpPr>
          <p:cNvPr id="36" name="Shape 34"/>
          <p:cNvSpPr/>
          <p:nvPr/>
        </p:nvSpPr>
        <p:spPr>
          <a:xfrm>
            <a:off x="3063240" y="3273552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5"/>
          <p:cNvSpPr/>
          <p:nvPr/>
        </p:nvSpPr>
        <p:spPr>
          <a:xfrm>
            <a:off x="3063240" y="3273552"/>
            <a:ext cx="2633472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Shape 36"/>
          <p:cNvSpPr/>
          <p:nvPr/>
        </p:nvSpPr>
        <p:spPr>
          <a:xfrm>
            <a:off x="3172968" y="3410712"/>
            <a:ext cx="347472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7"/>
          <p:cNvSpPr/>
          <p:nvPr/>
        </p:nvSpPr>
        <p:spPr>
          <a:xfrm>
            <a:off x="3172968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fr-FR" sz="1300" noProof="0" dirty="0"/>
          </a:p>
        </p:txBody>
      </p:sp>
      <p:sp>
        <p:nvSpPr>
          <p:cNvPr id="40" name="Text 38"/>
          <p:cNvSpPr/>
          <p:nvPr/>
        </p:nvSpPr>
        <p:spPr>
          <a:xfrm>
            <a:off x="3593592" y="342900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Cache</a:t>
            </a:r>
            <a:endParaRPr lang="fr-FR" sz="1100" noProof="0" dirty="0"/>
          </a:p>
        </p:txBody>
      </p:sp>
      <p:sp>
        <p:nvSpPr>
          <p:cNvPr id="41" name="Text 39"/>
          <p:cNvSpPr/>
          <p:nvPr/>
        </p:nvSpPr>
        <p:spPr>
          <a:xfrm>
            <a:off x="3191256" y="3767328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Pool de 5 connexions MySQL, cache TTL 5 min, pagination 50 lignes, index BDD.</a:t>
            </a:r>
            <a:endParaRPr lang="fr-FR" sz="900" noProof="0" dirty="0"/>
          </a:p>
        </p:txBody>
      </p:sp>
      <p:sp>
        <p:nvSpPr>
          <p:cNvPr id="42" name="Shape 40"/>
          <p:cNvSpPr/>
          <p:nvPr/>
        </p:nvSpPr>
        <p:spPr>
          <a:xfrm>
            <a:off x="5852160" y="3273552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Shape 41"/>
          <p:cNvSpPr/>
          <p:nvPr/>
        </p:nvSpPr>
        <p:spPr>
          <a:xfrm>
            <a:off x="5852160" y="3273552"/>
            <a:ext cx="2633472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Shape 42"/>
          <p:cNvSpPr/>
          <p:nvPr/>
        </p:nvSpPr>
        <p:spPr>
          <a:xfrm>
            <a:off x="5961888" y="3410712"/>
            <a:ext cx="347472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Text 43"/>
          <p:cNvSpPr/>
          <p:nvPr/>
        </p:nvSpPr>
        <p:spPr>
          <a:xfrm>
            <a:off x="5961888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fr-FR" sz="1300" noProof="0" dirty="0"/>
          </a:p>
        </p:txBody>
      </p:sp>
      <p:sp>
        <p:nvSpPr>
          <p:cNvPr id="46" name="Text 44"/>
          <p:cNvSpPr/>
          <p:nvPr/>
        </p:nvSpPr>
        <p:spPr>
          <a:xfrm>
            <a:off x="6382512" y="342900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Windows</a:t>
            </a:r>
            <a:endParaRPr lang="fr-FR" sz="1100" noProof="0" dirty="0"/>
          </a:p>
        </p:txBody>
      </p:sp>
      <p:sp>
        <p:nvSpPr>
          <p:cNvPr id="47" name="Text 45"/>
          <p:cNvSpPr/>
          <p:nvPr/>
        </p:nvSpPr>
        <p:spPr>
          <a:xfrm>
            <a:off x="5980176" y="3767328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Compilation </a:t>
            </a:r>
            <a:r>
              <a:rPr lang="fr-FR" sz="9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PyInstaller</a:t>
            </a:r>
            <a:r>
              <a:rPr lang="fr-FR" sz="9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, installateur </a:t>
            </a:r>
            <a:r>
              <a:rPr lang="fr-FR" sz="9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InnoSetup</a:t>
            </a:r>
            <a:r>
              <a:rPr lang="fr-FR" sz="9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, fichier .</a:t>
            </a:r>
            <a:r>
              <a:rPr lang="fr-FR" sz="9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env</a:t>
            </a:r>
            <a:r>
              <a:rPr lang="fr-FR" sz="9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 pour la configuration.</a:t>
            </a:r>
            <a:endParaRPr lang="fr-FR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 ARCHITECTURE DE LA SOLUTION</a:t>
            </a:r>
            <a:endParaRPr lang="fr-FR" sz="2000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9144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 (</a:t>
            </a:r>
            <a:r>
              <a:rPr lang="fr-FR" sz="1200" b="1" noProof="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</a:t>
            </a:r>
            <a:r>
              <a:rPr lang="fr-FR" sz="12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/)</a:t>
            </a:r>
            <a:endParaRPr lang="fr-F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PyQt6 - </a:t>
            </a:r>
            <a:r>
              <a:rPr lang="fr-FR" sz="10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QWidget</a:t>
            </a:r>
            <a:r>
              <a:rPr lang="fr-FR" sz="10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fr-FR" sz="10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QTableWidget</a:t>
            </a:r>
            <a:r>
              <a:rPr lang="fr-FR" sz="10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, formulaires, QSS</a:t>
            </a:r>
            <a:endParaRPr lang="fr-FR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274320" y="1938528"/>
            <a:ext cx="4114800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274320" y="1938528"/>
            <a:ext cx="9144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20482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CONTRÔLEURS (</a:t>
            </a:r>
            <a:r>
              <a:rPr lang="fr-FR" sz="1200" b="1" noProof="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</a:t>
            </a:r>
            <a:r>
              <a:rPr lang="fr-FR" sz="12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/)</a:t>
            </a:r>
            <a:endParaRPr lang="fr-FR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" y="2395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Logique métier, validations, RBAC, tuple (</a:t>
            </a:r>
            <a:r>
              <a:rPr lang="fr-FR" sz="10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bool</a:t>
            </a:r>
            <a:r>
              <a:rPr lang="fr-FR" sz="10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, data)</a:t>
            </a:r>
            <a:endParaRPr lang="fr-FR" sz="1000" noProof="0" dirty="0"/>
          </a:p>
        </p:txBody>
      </p:sp>
      <p:sp>
        <p:nvSpPr>
          <p:cNvPr id="17" name="Shape 15"/>
          <p:cNvSpPr/>
          <p:nvPr/>
        </p:nvSpPr>
        <p:spPr>
          <a:xfrm>
            <a:off x="274320" y="3072384"/>
            <a:ext cx="4114800" cy="1389888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6"/>
          <p:cNvSpPr/>
          <p:nvPr/>
        </p:nvSpPr>
        <p:spPr>
          <a:xfrm>
            <a:off x="274320" y="3072384"/>
            <a:ext cx="9144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457200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(</a:t>
            </a:r>
            <a:r>
              <a:rPr lang="fr-FR" sz="1200" b="1" noProof="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r>
              <a:rPr lang="fr-FR" sz="12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/)</a:t>
            </a:r>
            <a:endParaRPr lang="fr-FR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" y="35295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SQL paramétrées, aucune logique métier</a:t>
            </a:r>
            <a:endParaRPr lang="fr-FR" sz="1000" noProof="0" dirty="0"/>
          </a:p>
        </p:txBody>
      </p:sp>
      <p:sp>
        <p:nvSpPr>
          <p:cNvPr id="21" name="Shape 19"/>
          <p:cNvSpPr/>
          <p:nvPr/>
        </p:nvSpPr>
        <p:spPr>
          <a:xfrm>
            <a:off x="2103120" y="3986784"/>
            <a:ext cx="13716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20"/>
          <p:cNvSpPr/>
          <p:nvPr/>
        </p:nvSpPr>
        <p:spPr>
          <a:xfrm>
            <a:off x="274320" y="3520440"/>
            <a:ext cx="4114800" cy="91440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9144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457200" y="3630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fr-FR" sz="1200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MySQL 8.0 - 9 tables, 2 vues</a:t>
            </a:r>
            <a:endParaRPr lang="fr-FR" sz="1000" noProof="0" dirty="0"/>
          </a:p>
        </p:txBody>
      </p:sp>
      <p:sp>
        <p:nvSpPr>
          <p:cNvPr id="16" name="Flèche : double flèche verticale 15">
            <a:extLst>
              <a:ext uri="{FF2B5EF4-FFF2-40B4-BE49-F238E27FC236}">
                <a16:creationId xmlns:a16="http://schemas.microsoft.com/office/drawing/2014/main" id="{B4A92382-DC9F-90FF-D5E3-A3019DA9B691}"/>
              </a:ext>
            </a:extLst>
          </p:cNvPr>
          <p:cNvSpPr/>
          <p:nvPr/>
        </p:nvSpPr>
        <p:spPr>
          <a:xfrm flipH="1">
            <a:off x="2095134" y="1737360"/>
            <a:ext cx="91440" cy="201168"/>
          </a:xfrm>
          <a:prstGeom prst="up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Flèche : double flèche verticale 65">
            <a:extLst>
              <a:ext uri="{FF2B5EF4-FFF2-40B4-BE49-F238E27FC236}">
                <a16:creationId xmlns:a16="http://schemas.microsoft.com/office/drawing/2014/main" id="{7CA56457-3FCC-1F7A-C0A7-A985526E39BC}"/>
              </a:ext>
            </a:extLst>
          </p:cNvPr>
          <p:cNvSpPr/>
          <p:nvPr/>
        </p:nvSpPr>
        <p:spPr>
          <a:xfrm flipH="1">
            <a:off x="2072274" y="2863161"/>
            <a:ext cx="68579" cy="181791"/>
          </a:xfrm>
          <a:prstGeom prst="up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1EC4E33E-78AB-F979-F9AB-96EF68743F18}"/>
              </a:ext>
            </a:extLst>
          </p:cNvPr>
          <p:cNvGrpSpPr/>
          <p:nvPr/>
        </p:nvGrpSpPr>
        <p:grpSpPr>
          <a:xfrm>
            <a:off x="4754882" y="1490525"/>
            <a:ext cx="4187627" cy="2176166"/>
            <a:chOff x="274320" y="777240"/>
            <a:chExt cx="4114800" cy="1920240"/>
          </a:xfrm>
        </p:grpSpPr>
        <p:sp>
          <p:nvSpPr>
            <p:cNvPr id="71" name="Shape 5">
              <a:extLst>
                <a:ext uri="{FF2B5EF4-FFF2-40B4-BE49-F238E27FC236}">
                  <a16:creationId xmlns:a16="http://schemas.microsoft.com/office/drawing/2014/main" id="{E9E26A17-A3BE-AC59-A980-9BB67DEC8893}"/>
                </a:ext>
              </a:extLst>
            </p:cNvPr>
            <p:cNvSpPr/>
            <p:nvPr/>
          </p:nvSpPr>
          <p:spPr>
            <a:xfrm>
              <a:off x="274320" y="777240"/>
              <a:ext cx="4114800" cy="1920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2" name="Shape 6">
              <a:extLst>
                <a:ext uri="{FF2B5EF4-FFF2-40B4-BE49-F238E27FC236}">
                  <a16:creationId xmlns:a16="http://schemas.microsoft.com/office/drawing/2014/main" id="{28FB0134-2A22-2CF8-62DE-5BA106827B38}"/>
                </a:ext>
              </a:extLst>
            </p:cNvPr>
            <p:cNvSpPr/>
            <p:nvPr/>
          </p:nvSpPr>
          <p:spPr>
            <a:xfrm>
              <a:off x="274320" y="777240"/>
              <a:ext cx="4114800" cy="82296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3" name="Text 11">
              <a:extLst>
                <a:ext uri="{FF2B5EF4-FFF2-40B4-BE49-F238E27FC236}">
                  <a16:creationId xmlns:a16="http://schemas.microsoft.com/office/drawing/2014/main" id="{BD4C8309-AEB6-B1F3-476B-AC2763D38012}"/>
                </a:ext>
              </a:extLst>
            </p:cNvPr>
            <p:cNvSpPr/>
            <p:nvPr/>
          </p:nvSpPr>
          <p:spPr>
            <a:xfrm>
              <a:off x="638773" y="917309"/>
              <a:ext cx="338589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fr-FR" sz="14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Architecture client-serveur à 3 couches</a:t>
              </a:r>
              <a:endParaRPr lang="fr-FR" sz="1100" noProof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76" name="Text 49">
              <a:extLst>
                <a:ext uri="{FF2B5EF4-FFF2-40B4-BE49-F238E27FC236}">
                  <a16:creationId xmlns:a16="http://schemas.microsoft.com/office/drawing/2014/main" id="{D9A0146E-48E4-71DD-CF72-55424E6EE424}"/>
                </a:ext>
              </a:extLst>
            </p:cNvPr>
            <p:cNvSpPr/>
            <p:nvPr/>
          </p:nvSpPr>
          <p:spPr>
            <a:xfrm>
              <a:off x="297978" y="899233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300" b="1" noProof="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01</a:t>
              </a:r>
              <a:endParaRPr lang="fr-FR" sz="1300" noProof="0" dirty="0"/>
            </a:p>
          </p:txBody>
        </p:sp>
      </p:grpSp>
      <p:sp>
        <p:nvSpPr>
          <p:cNvPr id="78" name="ZoneTexte 77">
            <a:extLst>
              <a:ext uri="{FF2B5EF4-FFF2-40B4-BE49-F238E27FC236}">
                <a16:creationId xmlns:a16="http://schemas.microsoft.com/office/drawing/2014/main" id="{D3044949-4381-1862-C914-F38A2F8C4B5C}"/>
              </a:ext>
            </a:extLst>
          </p:cNvPr>
          <p:cNvSpPr txBox="1"/>
          <p:nvPr/>
        </p:nvSpPr>
        <p:spPr>
          <a:xfrm>
            <a:off x="4754882" y="2183978"/>
            <a:ext cx="3926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Couche Présentation (Client) : Interface PyQt6 sur postes utilisateurs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EA784372-6A73-E3C6-DC13-623735BFF038}"/>
              </a:ext>
            </a:extLst>
          </p:cNvPr>
          <p:cNvSpPr txBox="1"/>
          <p:nvPr/>
        </p:nvSpPr>
        <p:spPr>
          <a:xfrm>
            <a:off x="4913939" y="2732316"/>
            <a:ext cx="38695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Couche Métier (Application) : Logique métier Python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46A412A0-8A86-CBE4-2383-C402E43112C0}"/>
              </a:ext>
            </a:extLst>
          </p:cNvPr>
          <p:cNvSpPr txBox="1"/>
          <p:nvPr/>
        </p:nvSpPr>
        <p:spPr>
          <a:xfrm>
            <a:off x="4984470" y="3233343"/>
            <a:ext cx="370233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0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Couche Données (Serveur) : Base de données</a:t>
            </a:r>
            <a:endParaRPr lang="fr-FR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Shape 3">
            <a:extLst>
              <a:ext uri="{FF2B5EF4-FFF2-40B4-BE49-F238E27FC236}">
                <a16:creationId xmlns:a16="http://schemas.microsoft.com/office/drawing/2014/main" id="{C99173DD-C0E5-9EBD-9551-3299726A11EC}"/>
              </a:ext>
            </a:extLst>
          </p:cNvPr>
          <p:cNvSpPr/>
          <p:nvPr/>
        </p:nvSpPr>
        <p:spPr>
          <a:xfrm>
            <a:off x="18288" y="4874480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pPr algn="ctr"/>
            <a:endParaRPr lang="fr-FR" noProof="0" dirty="0"/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FFFA4593-40D1-DB60-B2B9-CA40ADA94053}"/>
              </a:ext>
            </a:extLst>
          </p:cNvPr>
          <p:cNvSpPr/>
          <p:nvPr/>
        </p:nvSpPr>
        <p:spPr>
          <a:xfrm>
            <a:off x="292608" y="48744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 MODULES AUTHENTIFICATION &amp; CLIENTS</a:t>
            </a:r>
            <a:endParaRPr lang="fr-FR" sz="2000" noProof="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48828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7315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420624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AUTHENTIFICATION</a:t>
            </a:r>
            <a:endParaRPr lang="fr-FR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225296"/>
            <a:ext cx="4114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274320" y="1225296"/>
            <a:ext cx="54864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402336" y="1280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SessionManager</a:t>
            </a:r>
            <a:r>
              <a:rPr lang="fr-FR" sz="105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statique</a:t>
            </a:r>
            <a:endParaRPr lang="fr-FR" sz="1050" noProof="0" dirty="0"/>
          </a:p>
        </p:txBody>
      </p:sp>
      <p:sp>
        <p:nvSpPr>
          <p:cNvPr id="13" name="Text 11"/>
          <p:cNvSpPr/>
          <p:nvPr/>
        </p:nvSpPr>
        <p:spPr>
          <a:xfrm>
            <a:off x="402336" y="1499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Classe entièrement statique — _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current_user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, _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login_time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, PERMISSIONS dict par rôle</a:t>
            </a:r>
            <a:endParaRPr lang="fr-FR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274320" y="188366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74320" y="1883664"/>
            <a:ext cx="54864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402336" y="1938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Hachage </a:t>
            </a:r>
            <a:r>
              <a:rPr lang="fr-FR" sz="1050" b="1" noProof="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r>
              <a:rPr lang="fr-FR" sz="105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(rounds=12)</a:t>
            </a:r>
            <a:endParaRPr lang="fr-FR" sz="1050" noProof="0" dirty="0"/>
          </a:p>
        </p:txBody>
      </p:sp>
      <p:sp>
        <p:nvSpPr>
          <p:cNvPr id="17" name="Text 15"/>
          <p:cNvSpPr/>
          <p:nvPr/>
        </p:nvSpPr>
        <p:spPr>
          <a:xfrm>
            <a:off x="402336" y="21579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Mots de passe stockés sous forme de hash uniquement — jamais en clair en base</a:t>
            </a:r>
            <a:endParaRPr lang="fr-FR" sz="950" noProof="0" dirty="0"/>
          </a:p>
        </p:txBody>
      </p:sp>
      <p:sp>
        <p:nvSpPr>
          <p:cNvPr id="18" name="Shape 16"/>
          <p:cNvSpPr/>
          <p:nvPr/>
        </p:nvSpPr>
        <p:spPr>
          <a:xfrm>
            <a:off x="274320" y="2542032"/>
            <a:ext cx="4114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7"/>
          <p:cNvSpPr/>
          <p:nvPr/>
        </p:nvSpPr>
        <p:spPr>
          <a:xfrm>
            <a:off x="274320" y="2542032"/>
            <a:ext cx="54864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402336" y="2596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3 rôles</a:t>
            </a:r>
            <a:endParaRPr lang="fr-FR" sz="1050" noProof="0" dirty="0"/>
          </a:p>
        </p:txBody>
      </p:sp>
      <p:sp>
        <p:nvSpPr>
          <p:cNvPr id="21" name="Text 19"/>
          <p:cNvSpPr/>
          <p:nvPr/>
        </p:nvSpPr>
        <p:spPr>
          <a:xfrm>
            <a:off x="402336" y="2816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Admin (all), Manager (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view+edit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), Vendeur (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view+create_sales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). Méthode 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has_permission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()</a:t>
            </a:r>
            <a:endParaRPr lang="fr-FR" sz="950" noProof="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54864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402336" y="3255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15 min</a:t>
            </a:r>
            <a:endParaRPr lang="fr-FR" sz="1050" noProof="0" dirty="0"/>
          </a:p>
        </p:txBody>
      </p:sp>
      <p:sp>
        <p:nvSpPr>
          <p:cNvPr id="25" name="Text 23"/>
          <p:cNvSpPr/>
          <p:nvPr/>
        </p:nvSpPr>
        <p:spPr>
          <a:xfrm>
            <a:off x="402336" y="3474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Déconnexion automatique après 15 min d'inactivité — avertissement 1 min avant</a:t>
            </a:r>
            <a:endParaRPr lang="fr-FR" sz="950" noProof="0" dirty="0"/>
          </a:p>
        </p:txBody>
      </p:sp>
      <p:sp>
        <p:nvSpPr>
          <p:cNvPr id="26" name="Shape 24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5"/>
          <p:cNvSpPr/>
          <p:nvPr/>
        </p:nvSpPr>
        <p:spPr>
          <a:xfrm>
            <a:off x="4663440" y="777240"/>
            <a:ext cx="73152" cy="347472"/>
          </a:xfrm>
          <a:prstGeom prst="rect">
            <a:avLst/>
          </a:prstGeom>
          <a:solidFill>
            <a:srgbClr val="03607A"/>
          </a:solidFill>
          <a:ln w="12700">
            <a:solidFill>
              <a:srgbClr val="03607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4809744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CLIENTS</a:t>
            </a:r>
            <a:endParaRPr lang="fr-FR" sz="1200" noProof="0" dirty="0"/>
          </a:p>
        </p:txBody>
      </p:sp>
      <p:sp>
        <p:nvSpPr>
          <p:cNvPr id="29" name="Shape 27"/>
          <p:cNvSpPr/>
          <p:nvPr/>
        </p:nvSpPr>
        <p:spPr>
          <a:xfrm>
            <a:off x="4663440" y="1225296"/>
            <a:ext cx="42062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8"/>
          <p:cNvSpPr/>
          <p:nvPr/>
        </p:nvSpPr>
        <p:spPr>
          <a:xfrm>
            <a:off x="4663440" y="1225296"/>
            <a:ext cx="54864" cy="5669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4791456" y="12801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 + pagination 50</a:t>
            </a:r>
            <a:endParaRPr lang="fr-FR" sz="1050" noProof="0" dirty="0"/>
          </a:p>
        </p:txBody>
      </p:sp>
      <p:sp>
        <p:nvSpPr>
          <p:cNvPr id="32" name="Text 30"/>
          <p:cNvSpPr/>
          <p:nvPr/>
        </p:nvSpPr>
        <p:spPr>
          <a:xfrm>
            <a:off x="4791456" y="14996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Création, modification, suppression protégée si ventes associées. 50 lignes/page.</a:t>
            </a:r>
            <a:endParaRPr lang="fr-FR" sz="950" noProof="0" dirty="0"/>
          </a:p>
        </p:txBody>
      </p:sp>
      <p:sp>
        <p:nvSpPr>
          <p:cNvPr id="33" name="Shape 31"/>
          <p:cNvSpPr/>
          <p:nvPr/>
        </p:nvSpPr>
        <p:spPr>
          <a:xfrm>
            <a:off x="4663440" y="1883664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32"/>
          <p:cNvSpPr/>
          <p:nvPr/>
        </p:nvSpPr>
        <p:spPr>
          <a:xfrm>
            <a:off x="4663440" y="1883664"/>
            <a:ext cx="54864" cy="5669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4791456" y="19385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Recherches multicritères</a:t>
            </a:r>
            <a:endParaRPr lang="fr-FR" sz="1050" noProof="0" dirty="0"/>
          </a:p>
        </p:txBody>
      </p:sp>
      <p:sp>
        <p:nvSpPr>
          <p:cNvPr id="36" name="Text 34"/>
          <p:cNvSpPr/>
          <p:nvPr/>
        </p:nvSpPr>
        <p:spPr>
          <a:xfrm>
            <a:off x="4791456" y="21579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Filtrage temps réel sur nom, téléphone, email. Index FULLTEXT MySQL.</a:t>
            </a:r>
            <a:endParaRPr lang="fr-FR" sz="950" noProof="0" dirty="0"/>
          </a:p>
        </p:txBody>
      </p:sp>
      <p:sp>
        <p:nvSpPr>
          <p:cNvPr id="37" name="Shape 35"/>
          <p:cNvSpPr/>
          <p:nvPr/>
        </p:nvSpPr>
        <p:spPr>
          <a:xfrm>
            <a:off x="4663440" y="2542032"/>
            <a:ext cx="42062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Shape 36"/>
          <p:cNvSpPr/>
          <p:nvPr/>
        </p:nvSpPr>
        <p:spPr>
          <a:xfrm>
            <a:off x="4663440" y="2542032"/>
            <a:ext cx="54864" cy="5669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7"/>
          <p:cNvSpPr/>
          <p:nvPr/>
        </p:nvSpPr>
        <p:spPr>
          <a:xfrm>
            <a:off x="4791456" y="2596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 client historique</a:t>
            </a:r>
            <a:endParaRPr lang="fr-FR" sz="1050" noProof="0" dirty="0"/>
          </a:p>
        </p:txBody>
      </p:sp>
      <p:sp>
        <p:nvSpPr>
          <p:cNvPr id="40" name="Text 38"/>
          <p:cNvSpPr/>
          <p:nvPr/>
        </p:nvSpPr>
        <p:spPr>
          <a:xfrm>
            <a:off x="4791456" y="28163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CA total, nombre de visites, date dernier achat, statuts impayés.</a:t>
            </a:r>
            <a:endParaRPr lang="fr-FR" sz="950" noProof="0" dirty="0"/>
          </a:p>
        </p:txBody>
      </p:sp>
      <p:sp>
        <p:nvSpPr>
          <p:cNvPr id="41" name="Shape 39"/>
          <p:cNvSpPr/>
          <p:nvPr/>
        </p:nvSpPr>
        <p:spPr>
          <a:xfrm>
            <a:off x="4663440" y="320040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Shape 40"/>
          <p:cNvSpPr/>
          <p:nvPr/>
        </p:nvSpPr>
        <p:spPr>
          <a:xfrm>
            <a:off x="4663440" y="3200400"/>
            <a:ext cx="54864" cy="5669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Text 41"/>
          <p:cNvSpPr/>
          <p:nvPr/>
        </p:nvSpPr>
        <p:spPr>
          <a:xfrm>
            <a:off x="4791456" y="32552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 rapide depuis vente</a:t>
            </a:r>
            <a:endParaRPr lang="fr-FR" sz="1050" noProof="0" dirty="0"/>
          </a:p>
        </p:txBody>
      </p:sp>
      <p:sp>
        <p:nvSpPr>
          <p:cNvPr id="44" name="Text 42"/>
          <p:cNvSpPr/>
          <p:nvPr/>
        </p:nvSpPr>
        <p:spPr>
          <a:xfrm>
            <a:off x="4791456" y="3474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Formulaire pop-up intégré dans la vue vente — hors CDC, ajout fonctionnel.</a:t>
            </a:r>
            <a:endParaRPr lang="fr-FR" sz="9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95F6F-2BD8-C6C0-6C5B-EDCAFF995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19CE21-2562-94E6-2E53-BF4C9F798E63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687B4AA-F9E4-415B-57A9-948887771C9A}"/>
              </a:ext>
            </a:extLst>
          </p:cNvPr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867639-2714-F358-E90A-E462CBBC2528}"/>
              </a:ext>
            </a:extLst>
          </p:cNvPr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 MODULES AUTHENTIFICATION &amp; CLIENTS</a:t>
            </a:r>
            <a:endParaRPr lang="fr-FR" sz="2000" noProof="0" dirty="0"/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F17FD813-BCBB-6F47-D181-63FE15DE3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658368"/>
            <a:ext cx="6460408" cy="3354832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0E25C4FC-7170-1212-DD5D-47E81450CE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418" t="6670" r="16901" b="8209"/>
          <a:stretch>
            <a:fillRect/>
          </a:stretch>
        </p:blipFill>
        <p:spPr>
          <a:xfrm>
            <a:off x="5837064" y="1984041"/>
            <a:ext cx="3219850" cy="30447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9" name="Shape 3">
            <a:extLst>
              <a:ext uri="{FF2B5EF4-FFF2-40B4-BE49-F238E27FC236}">
                <a16:creationId xmlns:a16="http://schemas.microsoft.com/office/drawing/2014/main" id="{C956B681-F0E0-48F9-E093-B207BFAB8905}"/>
              </a:ext>
            </a:extLst>
          </p:cNvPr>
          <p:cNvSpPr/>
          <p:nvPr/>
        </p:nvSpPr>
        <p:spPr>
          <a:xfrm>
            <a:off x="18288" y="4874480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pPr algn="ctr"/>
            <a:endParaRPr lang="fr-FR" noProof="0" dirty="0"/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E89DA176-6BEB-D7DD-DF2B-6039A1F93528}"/>
              </a:ext>
            </a:extLst>
          </p:cNvPr>
          <p:cNvSpPr/>
          <p:nvPr/>
        </p:nvSpPr>
        <p:spPr>
          <a:xfrm>
            <a:off x="292608" y="48744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</p:spTree>
    <p:extLst>
      <p:ext uri="{BB962C8B-B14F-4D97-AF65-F5344CB8AC3E}">
        <p14:creationId xmlns:p14="http://schemas.microsoft.com/office/powerpoint/2010/main" val="996855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 MODULES PRODUITS, STOCK &amp; VENTES</a:t>
            </a:r>
            <a:endParaRPr lang="fr-FR" sz="2000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011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2011680" cy="914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274320" y="8778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FAC-YYYYMMDD-XXXX</a:t>
            </a:r>
            <a:endParaRPr lang="fr-FR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274320" y="12435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Numérotation auto</a:t>
            </a:r>
            <a:endParaRPr lang="fr-FR" sz="1000" noProof="0" dirty="0"/>
          </a:p>
        </p:txBody>
      </p:sp>
      <p:sp>
        <p:nvSpPr>
          <p:cNvPr id="11" name="Shape 9"/>
          <p:cNvSpPr/>
          <p:nvPr/>
        </p:nvSpPr>
        <p:spPr>
          <a:xfrm>
            <a:off x="2450592" y="777240"/>
            <a:ext cx="2011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2450592" y="777240"/>
            <a:ext cx="2011680" cy="914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2450592" y="8778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4 statuts</a:t>
            </a:r>
            <a:endParaRPr lang="fr-F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2450592" y="12435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EN_COURS · PARTIELLE · PAYÉE · ANNULÉE</a:t>
            </a:r>
            <a:endParaRPr lang="fr-FR" sz="850" noProof="0" dirty="0"/>
          </a:p>
        </p:txBody>
      </p:sp>
      <p:sp>
        <p:nvSpPr>
          <p:cNvPr id="15" name="Shape 13"/>
          <p:cNvSpPr/>
          <p:nvPr/>
        </p:nvSpPr>
        <p:spPr>
          <a:xfrm>
            <a:off x="4626864" y="777240"/>
            <a:ext cx="2011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4"/>
          <p:cNvSpPr/>
          <p:nvPr/>
        </p:nvSpPr>
        <p:spPr>
          <a:xfrm>
            <a:off x="4626864" y="777240"/>
            <a:ext cx="2011680" cy="914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4626864" y="8778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TVA 18 %</a:t>
            </a:r>
            <a:endParaRPr lang="fr-F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4626864" y="12435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Calcul HT → TTC en temps réel</a:t>
            </a:r>
            <a:endParaRPr lang="fr-FR" sz="850" noProof="0" dirty="0"/>
          </a:p>
        </p:txBody>
      </p:sp>
      <p:sp>
        <p:nvSpPr>
          <p:cNvPr id="19" name="Shape 17"/>
          <p:cNvSpPr/>
          <p:nvPr/>
        </p:nvSpPr>
        <p:spPr>
          <a:xfrm>
            <a:off x="6803136" y="777240"/>
            <a:ext cx="2011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6803136" y="777240"/>
            <a:ext cx="2011680" cy="914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6803136" y="8778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Export PDF</a:t>
            </a:r>
            <a:endParaRPr lang="fr-FR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6803136" y="12435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Facture </a:t>
            </a:r>
            <a:r>
              <a:rPr lang="fr-FR" sz="8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ReportLab</a:t>
            </a:r>
            <a:r>
              <a:rPr lang="fr-FR" sz="8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 + tampon PAYÉE</a:t>
            </a:r>
            <a:endParaRPr lang="fr-FR" sz="850" noProof="0" dirty="0"/>
          </a:p>
        </p:txBody>
      </p:sp>
      <p:sp>
        <p:nvSpPr>
          <p:cNvPr id="23" name="Shape 21"/>
          <p:cNvSpPr/>
          <p:nvPr/>
        </p:nvSpPr>
        <p:spPr>
          <a:xfrm>
            <a:off x="274320" y="1828800"/>
            <a:ext cx="411480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402336" y="18288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PRODUITS &amp; STOCK</a:t>
            </a:r>
            <a:endParaRPr lang="fr-FR" sz="1200" noProof="0" dirty="0"/>
          </a:p>
        </p:txBody>
      </p:sp>
      <p:sp>
        <p:nvSpPr>
          <p:cNvPr id="25" name="Shape 23"/>
          <p:cNvSpPr/>
          <p:nvPr/>
        </p:nvSpPr>
        <p:spPr>
          <a:xfrm>
            <a:off x="274320" y="2231136"/>
            <a:ext cx="41148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274320" y="2231136"/>
            <a:ext cx="54864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402336" y="2295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par catégories</a:t>
            </a:r>
            <a:endParaRPr lang="fr-FR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402336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Prix achat/vente, marge auto, alertes stock rouge si 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stock_actuel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 ≤ 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stock_min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fr-FR" sz="950" noProof="0" dirty="0"/>
          </a:p>
        </p:txBody>
      </p:sp>
      <p:sp>
        <p:nvSpPr>
          <p:cNvPr id="29" name="Shape 27"/>
          <p:cNvSpPr/>
          <p:nvPr/>
        </p:nvSpPr>
        <p:spPr>
          <a:xfrm>
            <a:off x="274320" y="2962656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8"/>
          <p:cNvSpPr/>
          <p:nvPr/>
        </p:nvSpPr>
        <p:spPr>
          <a:xfrm>
            <a:off x="274320" y="2962656"/>
            <a:ext cx="54864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402336" y="3026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Mouvements tracés</a:t>
            </a:r>
            <a:endParaRPr lang="fr-FR" sz="1100" noProof="0" dirty="0"/>
          </a:p>
        </p:txBody>
      </p:sp>
      <p:sp>
        <p:nvSpPr>
          <p:cNvPr id="32" name="Text 30"/>
          <p:cNvSpPr/>
          <p:nvPr/>
        </p:nvSpPr>
        <p:spPr>
          <a:xfrm>
            <a:off x="402336" y="3273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Entrée / Sortie / Ajustement. Chaque mouvement enregistré dans 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mouvements_stock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fr-FR" sz="950" noProof="0" dirty="0"/>
          </a:p>
        </p:txBody>
      </p:sp>
      <p:sp>
        <p:nvSpPr>
          <p:cNvPr id="33" name="Shape 31"/>
          <p:cNvSpPr/>
          <p:nvPr/>
        </p:nvSpPr>
        <p:spPr>
          <a:xfrm>
            <a:off x="274320" y="3694176"/>
            <a:ext cx="41148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32"/>
          <p:cNvSpPr/>
          <p:nvPr/>
        </p:nvSpPr>
        <p:spPr>
          <a:xfrm>
            <a:off x="274320" y="3694176"/>
            <a:ext cx="54864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402336" y="37581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TTL 5 min</a:t>
            </a:r>
            <a:endParaRPr lang="fr-FR" sz="1100" noProof="0" dirty="0"/>
          </a:p>
        </p:txBody>
      </p:sp>
      <p:sp>
        <p:nvSpPr>
          <p:cNvPr id="36" name="Text 34"/>
          <p:cNvSpPr/>
          <p:nvPr/>
        </p:nvSpPr>
        <p:spPr>
          <a:xfrm>
            <a:off x="402336" y="4005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Catégories et alertes stock en cache mémoire  -rechargement après invalidation.</a:t>
            </a:r>
            <a:endParaRPr lang="fr-FR" sz="950" noProof="0" dirty="0"/>
          </a:p>
        </p:txBody>
      </p:sp>
      <p:sp>
        <p:nvSpPr>
          <p:cNvPr id="37" name="Shape 35"/>
          <p:cNvSpPr/>
          <p:nvPr/>
        </p:nvSpPr>
        <p:spPr>
          <a:xfrm>
            <a:off x="4663440" y="1828800"/>
            <a:ext cx="420624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6"/>
          <p:cNvSpPr/>
          <p:nvPr/>
        </p:nvSpPr>
        <p:spPr>
          <a:xfrm>
            <a:off x="4791456" y="18288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VENTES</a:t>
            </a:r>
            <a:endParaRPr lang="fr-FR" sz="1200" noProof="0" dirty="0"/>
          </a:p>
        </p:txBody>
      </p:sp>
      <p:sp>
        <p:nvSpPr>
          <p:cNvPr id="39" name="Shape 37"/>
          <p:cNvSpPr/>
          <p:nvPr/>
        </p:nvSpPr>
        <p:spPr>
          <a:xfrm>
            <a:off x="4663440" y="2231136"/>
            <a:ext cx="4206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8"/>
          <p:cNvSpPr/>
          <p:nvPr/>
        </p:nvSpPr>
        <p:spPr>
          <a:xfrm>
            <a:off x="4663440" y="2231136"/>
            <a:ext cx="54864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9"/>
          <p:cNvSpPr/>
          <p:nvPr/>
        </p:nvSpPr>
        <p:spPr>
          <a:xfrm>
            <a:off x="4791456" y="22951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 panier complet</a:t>
            </a:r>
            <a:endParaRPr lang="fr-FR" sz="1100" noProof="0" dirty="0"/>
          </a:p>
        </p:txBody>
      </p:sp>
      <p:sp>
        <p:nvSpPr>
          <p:cNvPr id="42" name="Text 40"/>
          <p:cNvSpPr/>
          <p:nvPr/>
        </p:nvSpPr>
        <p:spPr>
          <a:xfrm>
            <a:off x="4791456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Sélection client, ajout produits, remise fixe ou %, TVA, montant payé, calcul temps réel.</a:t>
            </a:r>
            <a:endParaRPr lang="fr-FR" sz="950" noProof="0" dirty="0"/>
          </a:p>
        </p:txBody>
      </p:sp>
      <p:sp>
        <p:nvSpPr>
          <p:cNvPr id="43" name="Shape 41"/>
          <p:cNvSpPr/>
          <p:nvPr/>
        </p:nvSpPr>
        <p:spPr>
          <a:xfrm>
            <a:off x="4663440" y="2962656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Shape 42"/>
          <p:cNvSpPr/>
          <p:nvPr/>
        </p:nvSpPr>
        <p:spPr>
          <a:xfrm>
            <a:off x="4663440" y="2962656"/>
            <a:ext cx="54864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Text 43"/>
          <p:cNvSpPr/>
          <p:nvPr/>
        </p:nvSpPr>
        <p:spPr>
          <a:xfrm>
            <a:off x="4791456" y="30266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Admin/Manager</a:t>
            </a:r>
            <a:endParaRPr lang="fr-FR" sz="1100" noProof="0" dirty="0"/>
          </a:p>
        </p:txBody>
      </p:sp>
      <p:sp>
        <p:nvSpPr>
          <p:cNvPr id="46" name="Text 44"/>
          <p:cNvSpPr/>
          <p:nvPr/>
        </p:nvSpPr>
        <p:spPr>
          <a:xfrm>
            <a:off x="4791456" y="3273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Décrémentation du stock à la validation. Restauration automatique à l'annulation.</a:t>
            </a:r>
            <a:endParaRPr lang="fr-FR" sz="950" noProof="0" dirty="0"/>
          </a:p>
        </p:txBody>
      </p:sp>
      <p:sp>
        <p:nvSpPr>
          <p:cNvPr id="47" name="Shape 45"/>
          <p:cNvSpPr/>
          <p:nvPr/>
        </p:nvSpPr>
        <p:spPr>
          <a:xfrm>
            <a:off x="4663440" y="3694176"/>
            <a:ext cx="4206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Shape 46"/>
          <p:cNvSpPr/>
          <p:nvPr/>
        </p:nvSpPr>
        <p:spPr>
          <a:xfrm>
            <a:off x="4663440" y="3694176"/>
            <a:ext cx="54864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9" name="Text 47"/>
          <p:cNvSpPr/>
          <p:nvPr/>
        </p:nvSpPr>
        <p:spPr>
          <a:xfrm>
            <a:off x="4791456" y="37581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Facture PDF professionnelle</a:t>
            </a:r>
            <a:endParaRPr lang="fr-FR" sz="1100" noProof="0" dirty="0"/>
          </a:p>
        </p:txBody>
      </p:sp>
      <p:sp>
        <p:nvSpPr>
          <p:cNvPr id="50" name="Text 48"/>
          <p:cNvSpPr/>
          <p:nvPr/>
        </p:nvSpPr>
        <p:spPr>
          <a:xfrm>
            <a:off x="4791456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ReportLab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canvas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 direct - en-tête entreprise, tableau produits, tampon PAYÉE, dossier factures/.</a:t>
            </a:r>
            <a:endParaRPr lang="fr-FR" sz="950" noProof="0" dirty="0"/>
          </a:p>
        </p:txBody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81F62C27-A732-5675-2B37-E3B6C951F8DC}"/>
              </a:ext>
            </a:extLst>
          </p:cNvPr>
          <p:cNvSpPr/>
          <p:nvPr/>
        </p:nvSpPr>
        <p:spPr>
          <a:xfrm>
            <a:off x="18288" y="4874480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pPr algn="ctr"/>
            <a:endParaRPr lang="fr-FR" noProof="0" dirty="0"/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5BE2BA00-14DE-160E-2C6C-8123806DA99D}"/>
              </a:ext>
            </a:extLst>
          </p:cNvPr>
          <p:cNvSpPr/>
          <p:nvPr/>
        </p:nvSpPr>
        <p:spPr>
          <a:xfrm>
            <a:off x="292608" y="48744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6D68E-DE45-78B9-B5ED-704463DA7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AEFDD4-C00C-0F72-96B2-A4CBB8B9E4BC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3FA364-0395-EF61-EA1E-F855B20CFBFB}"/>
              </a:ext>
            </a:extLst>
          </p:cNvPr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DF2140E-1C54-86A6-1F4F-F69E5103D8AA}"/>
              </a:ext>
            </a:extLst>
          </p:cNvPr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 MODULES PRODUITS, STOCK &amp; VENTES</a:t>
            </a:r>
            <a:endParaRPr lang="fr-FR" sz="2000" noProof="0" dirty="0"/>
          </a:p>
        </p:txBody>
      </p:sp>
      <p:pic>
        <p:nvPicPr>
          <p:cNvPr id="54" name="Image 53">
            <a:extLst>
              <a:ext uri="{FF2B5EF4-FFF2-40B4-BE49-F238E27FC236}">
                <a16:creationId xmlns:a16="http://schemas.microsoft.com/office/drawing/2014/main" id="{7DF21756-7939-4CDA-1312-CA5629CB0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64" y="724623"/>
            <a:ext cx="8255071" cy="4248047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BB52F9C1-F13D-89FE-A6B6-2D2DAAF79379}"/>
              </a:ext>
            </a:extLst>
          </p:cNvPr>
          <p:cNvSpPr/>
          <p:nvPr/>
        </p:nvSpPr>
        <p:spPr>
          <a:xfrm>
            <a:off x="18288" y="4874480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pPr algn="ctr"/>
            <a:endParaRPr lang="fr-FR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5BD1390-663E-8347-A896-49A415EFFE6B}"/>
              </a:ext>
            </a:extLst>
          </p:cNvPr>
          <p:cNvSpPr/>
          <p:nvPr/>
        </p:nvSpPr>
        <p:spPr>
          <a:xfrm>
            <a:off x="292608" y="48744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</p:spTree>
    <p:extLst>
      <p:ext uri="{BB962C8B-B14F-4D97-AF65-F5344CB8AC3E}">
        <p14:creationId xmlns:p14="http://schemas.microsoft.com/office/powerpoint/2010/main" val="777855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15CD1B-C7BA-E417-1DFF-C2F2FC244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6AE595-DFE4-0FB1-37F6-663B5C48AFE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E81E27-2183-8F34-A67E-AA6E5A5580B1}"/>
              </a:ext>
            </a:extLst>
          </p:cNvPr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626DF9-A08C-341E-628F-B5DBD07F19D3}"/>
              </a:ext>
            </a:extLst>
          </p:cNvPr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 MODULES PRODUITS, STOCK &amp; VENTES</a:t>
            </a:r>
            <a:endParaRPr lang="fr-FR" sz="2000" noProof="0" dirty="0"/>
          </a:p>
        </p:txBody>
      </p:sp>
      <p:sp>
        <p:nvSpPr>
          <p:cNvPr id="55" name="Shape 3">
            <a:extLst>
              <a:ext uri="{FF2B5EF4-FFF2-40B4-BE49-F238E27FC236}">
                <a16:creationId xmlns:a16="http://schemas.microsoft.com/office/drawing/2014/main" id="{EED43FE2-FB37-739C-4B1D-2CC1040F8F34}"/>
              </a:ext>
            </a:extLst>
          </p:cNvPr>
          <p:cNvSpPr/>
          <p:nvPr/>
        </p:nvSpPr>
        <p:spPr>
          <a:xfrm>
            <a:off x="18288" y="4874480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pPr algn="ctr"/>
            <a:endParaRPr lang="fr-FR" noProof="0" dirty="0"/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44F33894-84D4-0D88-917B-D09641844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56" y="658368"/>
            <a:ext cx="8173864" cy="4240351"/>
          </a:xfrm>
          <a:prstGeom prst="rect">
            <a:avLst/>
          </a:prstGeom>
        </p:spPr>
      </p:pic>
      <p:sp>
        <p:nvSpPr>
          <p:cNvPr id="56" name="Text 4">
            <a:extLst>
              <a:ext uri="{FF2B5EF4-FFF2-40B4-BE49-F238E27FC236}">
                <a16:creationId xmlns:a16="http://schemas.microsoft.com/office/drawing/2014/main" id="{C4789E58-3D24-2B4A-A8DD-7EF06F79107C}"/>
              </a:ext>
            </a:extLst>
          </p:cNvPr>
          <p:cNvSpPr/>
          <p:nvPr/>
        </p:nvSpPr>
        <p:spPr>
          <a:xfrm>
            <a:off x="292608" y="48744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</p:spTree>
    <p:extLst>
      <p:ext uri="{BB962C8B-B14F-4D97-AF65-F5344CB8AC3E}">
        <p14:creationId xmlns:p14="http://schemas.microsoft.com/office/powerpoint/2010/main" val="786081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 SÉCURITÉ &amp; PERFORMANCE</a:t>
            </a:r>
            <a:endParaRPr lang="fr-FR" sz="2000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7315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420624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fr-FR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225296"/>
            <a:ext cx="411480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274320" y="1225296"/>
            <a:ext cx="64008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411480" y="12710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rounds=12</a:t>
            </a:r>
            <a:endParaRPr lang="fr-F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11480" y="14721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Hash irréversible des mots de passe — jamais stockés en clair</a:t>
            </a:r>
            <a:endParaRPr lang="fr-FR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274320" y="1792224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74320" y="1792224"/>
            <a:ext cx="64008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411480" y="18379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paramétrées</a:t>
            </a:r>
            <a:endParaRPr lang="fr-FR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411480" y="2039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Protection contre l'injection SQL sur toutes les requêtes MySQL</a:t>
            </a:r>
            <a:endParaRPr lang="fr-FR" sz="950" noProof="0" dirty="0"/>
          </a:p>
        </p:txBody>
      </p:sp>
      <p:sp>
        <p:nvSpPr>
          <p:cNvPr id="18" name="Shape 16"/>
          <p:cNvSpPr/>
          <p:nvPr/>
        </p:nvSpPr>
        <p:spPr>
          <a:xfrm>
            <a:off x="274320" y="2359152"/>
            <a:ext cx="411480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7"/>
          <p:cNvSpPr/>
          <p:nvPr/>
        </p:nvSpPr>
        <p:spPr>
          <a:xfrm>
            <a:off x="274320" y="2359152"/>
            <a:ext cx="64008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411480" y="2404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3 niveaux</a:t>
            </a:r>
            <a:endParaRPr lang="fr-F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411480" y="2606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Admin / Manager / Vendeur — 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has_permission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() avant chaque action</a:t>
            </a:r>
            <a:endParaRPr lang="fr-FR" sz="950" noProof="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64008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411480" y="29718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fr-FR" sz="1100" b="1" noProof="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</a:t>
            </a: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isolé</a:t>
            </a:r>
            <a:endParaRPr lang="fr-FR" sz="1100" noProof="0" dirty="0"/>
          </a:p>
        </p:txBody>
      </p:sp>
      <p:sp>
        <p:nvSpPr>
          <p:cNvPr id="25" name="Text 23"/>
          <p:cNvSpPr/>
          <p:nvPr/>
        </p:nvSpPr>
        <p:spPr>
          <a:xfrm>
            <a:off x="411480" y="3172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 MySQL hors du code — jamais versionnés dans Git</a:t>
            </a:r>
            <a:endParaRPr lang="fr-FR" sz="950" noProof="0" dirty="0"/>
          </a:p>
        </p:txBody>
      </p:sp>
      <p:sp>
        <p:nvSpPr>
          <p:cNvPr id="26" name="Shape 24"/>
          <p:cNvSpPr/>
          <p:nvPr/>
        </p:nvSpPr>
        <p:spPr>
          <a:xfrm>
            <a:off x="274320" y="3493008"/>
            <a:ext cx="411480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5"/>
          <p:cNvSpPr/>
          <p:nvPr/>
        </p:nvSpPr>
        <p:spPr>
          <a:xfrm>
            <a:off x="274320" y="3493008"/>
            <a:ext cx="64008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411480" y="35387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session 15 min</a:t>
            </a:r>
            <a:endParaRPr lang="fr-FR" sz="1100" noProof="0" dirty="0"/>
          </a:p>
        </p:txBody>
      </p:sp>
      <p:sp>
        <p:nvSpPr>
          <p:cNvPr id="29" name="Text 27"/>
          <p:cNvSpPr/>
          <p:nvPr/>
        </p:nvSpPr>
        <p:spPr>
          <a:xfrm>
            <a:off x="411480" y="3739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Déconnexion automatique — 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SessionManager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._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login_time</a:t>
            </a:r>
            <a:endParaRPr lang="fr-FR" sz="950" noProof="0" dirty="0"/>
          </a:p>
        </p:txBody>
      </p:sp>
      <p:sp>
        <p:nvSpPr>
          <p:cNvPr id="30" name="Shape 28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9"/>
          <p:cNvSpPr/>
          <p:nvPr/>
        </p:nvSpPr>
        <p:spPr>
          <a:xfrm>
            <a:off x="4663440" y="777240"/>
            <a:ext cx="73152" cy="347472"/>
          </a:xfrm>
          <a:prstGeom prst="rect">
            <a:avLst/>
          </a:prstGeom>
          <a:solidFill>
            <a:srgbClr val="03607A"/>
          </a:solidFill>
          <a:ln w="12700">
            <a:solidFill>
              <a:srgbClr val="03607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30"/>
          <p:cNvSpPr/>
          <p:nvPr/>
        </p:nvSpPr>
        <p:spPr>
          <a:xfrm>
            <a:off x="4809744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fr-FR" sz="1200" noProof="0" dirty="0"/>
          </a:p>
        </p:txBody>
      </p:sp>
      <p:sp>
        <p:nvSpPr>
          <p:cNvPr id="33" name="Shape 31"/>
          <p:cNvSpPr/>
          <p:nvPr/>
        </p:nvSpPr>
        <p:spPr>
          <a:xfrm>
            <a:off x="4663440" y="1225296"/>
            <a:ext cx="42062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32"/>
          <p:cNvSpPr/>
          <p:nvPr/>
        </p:nvSpPr>
        <p:spPr>
          <a:xfrm>
            <a:off x="4663440" y="1225296"/>
            <a:ext cx="64008" cy="4937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4800600" y="12710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de 5 connexions MySQL</a:t>
            </a:r>
            <a:endParaRPr lang="fr-FR" sz="1100" noProof="0" dirty="0"/>
          </a:p>
        </p:txBody>
      </p:sp>
      <p:sp>
        <p:nvSpPr>
          <p:cNvPr id="36" name="Text 34"/>
          <p:cNvSpPr/>
          <p:nvPr/>
        </p:nvSpPr>
        <p:spPr>
          <a:xfrm>
            <a:off x="4800600" y="14721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Connexions réutilisables  - pas de reconnexion à chaque requête</a:t>
            </a:r>
            <a:endParaRPr lang="fr-FR" sz="950" noProof="0" dirty="0"/>
          </a:p>
        </p:txBody>
      </p:sp>
      <p:sp>
        <p:nvSpPr>
          <p:cNvPr id="37" name="Shape 35"/>
          <p:cNvSpPr/>
          <p:nvPr/>
        </p:nvSpPr>
        <p:spPr>
          <a:xfrm>
            <a:off x="4663440" y="1792224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Shape 36"/>
          <p:cNvSpPr/>
          <p:nvPr/>
        </p:nvSpPr>
        <p:spPr>
          <a:xfrm>
            <a:off x="4663440" y="1792224"/>
            <a:ext cx="64008" cy="4937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7"/>
          <p:cNvSpPr/>
          <p:nvPr/>
        </p:nvSpPr>
        <p:spPr>
          <a:xfrm>
            <a:off x="4800600" y="18379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mémoire TTL</a:t>
            </a:r>
            <a:endParaRPr lang="fr-FR" sz="1100" noProof="0" dirty="0"/>
          </a:p>
        </p:txBody>
      </p:sp>
      <p:sp>
        <p:nvSpPr>
          <p:cNvPr id="40" name="Text 38"/>
          <p:cNvSpPr/>
          <p:nvPr/>
        </p:nvSpPr>
        <p:spPr>
          <a:xfrm>
            <a:off x="4800600" y="2039112"/>
            <a:ext cx="414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Catégories et alertes stock en cache 5 min  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SimpleCache.get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/set/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invalidate</a:t>
            </a:r>
            <a:endParaRPr lang="fr-FR" sz="950" noProof="0" dirty="0"/>
          </a:p>
        </p:txBody>
      </p:sp>
      <p:sp>
        <p:nvSpPr>
          <p:cNvPr id="41" name="Shape 39"/>
          <p:cNvSpPr/>
          <p:nvPr/>
        </p:nvSpPr>
        <p:spPr>
          <a:xfrm>
            <a:off x="4663440" y="2359152"/>
            <a:ext cx="42062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Shape 40"/>
          <p:cNvSpPr/>
          <p:nvPr/>
        </p:nvSpPr>
        <p:spPr>
          <a:xfrm>
            <a:off x="4663440" y="2359152"/>
            <a:ext cx="64008" cy="4937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Text 41"/>
          <p:cNvSpPr/>
          <p:nvPr/>
        </p:nvSpPr>
        <p:spPr>
          <a:xfrm>
            <a:off x="4800600" y="2404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 50 lignes</a:t>
            </a:r>
            <a:endParaRPr lang="fr-FR" sz="1100" noProof="0" dirty="0"/>
          </a:p>
        </p:txBody>
      </p:sp>
      <p:sp>
        <p:nvSpPr>
          <p:cNvPr id="44" name="Text 42"/>
          <p:cNvSpPr/>
          <p:nvPr/>
        </p:nvSpPr>
        <p:spPr>
          <a:xfrm>
            <a:off x="4800600" y="2606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Toutes les listes paginées - évite les chargements massifs en mémoire</a:t>
            </a:r>
            <a:endParaRPr lang="fr-FR" sz="950" noProof="0" dirty="0"/>
          </a:p>
        </p:txBody>
      </p:sp>
      <p:sp>
        <p:nvSpPr>
          <p:cNvPr id="45" name="Shape 43"/>
          <p:cNvSpPr/>
          <p:nvPr/>
        </p:nvSpPr>
        <p:spPr>
          <a:xfrm>
            <a:off x="4663440" y="2926080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6" name="Shape 44"/>
          <p:cNvSpPr/>
          <p:nvPr/>
        </p:nvSpPr>
        <p:spPr>
          <a:xfrm>
            <a:off x="4663440" y="2926080"/>
            <a:ext cx="64008" cy="4937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Text 45"/>
          <p:cNvSpPr/>
          <p:nvPr/>
        </p:nvSpPr>
        <p:spPr>
          <a:xfrm>
            <a:off x="4800600" y="29718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MySQL</a:t>
            </a:r>
            <a:endParaRPr lang="fr-FR" sz="1100" noProof="0" dirty="0"/>
          </a:p>
        </p:txBody>
      </p:sp>
      <p:sp>
        <p:nvSpPr>
          <p:cNvPr id="48" name="Text 46"/>
          <p:cNvSpPr/>
          <p:nvPr/>
        </p:nvSpPr>
        <p:spPr>
          <a:xfrm>
            <a:off x="4800600" y="3172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FULLTEXT sur clients, index sur 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stock_actuel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 et 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date_vente</a:t>
            </a:r>
            <a:endParaRPr lang="fr-FR" sz="950" noProof="0" dirty="0"/>
          </a:p>
        </p:txBody>
      </p:sp>
      <p:sp>
        <p:nvSpPr>
          <p:cNvPr id="49" name="Shape 47"/>
          <p:cNvSpPr/>
          <p:nvPr/>
        </p:nvSpPr>
        <p:spPr>
          <a:xfrm>
            <a:off x="4663440" y="3493008"/>
            <a:ext cx="42062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Shape 48"/>
          <p:cNvSpPr/>
          <p:nvPr/>
        </p:nvSpPr>
        <p:spPr>
          <a:xfrm>
            <a:off x="4663440" y="3493008"/>
            <a:ext cx="64008" cy="4937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Text 49"/>
          <p:cNvSpPr/>
          <p:nvPr/>
        </p:nvSpPr>
        <p:spPr>
          <a:xfrm>
            <a:off x="4800600" y="35387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Chargement </a:t>
            </a:r>
            <a:r>
              <a:rPr lang="fr-FR" sz="1100" b="1" noProof="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</a:t>
            </a:r>
            <a:r>
              <a:rPr lang="fr-FR" sz="11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fr-FR" sz="1100" b="1" noProof="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fr-FR" sz="1100" noProof="0" dirty="0"/>
          </a:p>
        </p:txBody>
      </p:sp>
      <p:sp>
        <p:nvSpPr>
          <p:cNvPr id="52" name="Text 50"/>
          <p:cNvSpPr/>
          <p:nvPr/>
        </p:nvSpPr>
        <p:spPr>
          <a:xfrm>
            <a:off x="4800600" y="376892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Graphique </a:t>
            </a:r>
            <a:r>
              <a:rPr lang="fr-FR" sz="95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r>
              <a:rPr lang="fr-FR" sz="95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 chargé en thread daemon — interface non bloquante</a:t>
            </a:r>
            <a:endParaRPr lang="fr-FR" sz="950" noProof="0" dirty="0"/>
          </a:p>
        </p:txBody>
      </p:sp>
      <p:sp>
        <p:nvSpPr>
          <p:cNvPr id="53" name="Shape 3">
            <a:extLst>
              <a:ext uri="{FF2B5EF4-FFF2-40B4-BE49-F238E27FC236}">
                <a16:creationId xmlns:a16="http://schemas.microsoft.com/office/drawing/2014/main" id="{AFE83DE1-B10A-DA21-C4D8-9F4C3B6CD45B}"/>
              </a:ext>
            </a:extLst>
          </p:cNvPr>
          <p:cNvSpPr/>
          <p:nvPr/>
        </p:nvSpPr>
        <p:spPr>
          <a:xfrm>
            <a:off x="18288" y="4874480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pPr algn="ctr"/>
            <a:endParaRPr lang="fr-FR" noProof="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36AB8BAF-E424-608B-7584-A307702C5478}"/>
              </a:ext>
            </a:extLst>
          </p:cNvPr>
          <p:cNvSpPr/>
          <p:nvPr/>
        </p:nvSpPr>
        <p:spPr>
          <a:xfrm>
            <a:off x="292608" y="48744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 TESTS RÉALISÉS</a:t>
            </a:r>
            <a:endParaRPr lang="fr-FR" sz="2000" noProof="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pPr algn="ctr"/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48828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CDCD72BF-AC5E-6455-07E3-E4DEC9B3CF00}"/>
              </a:ext>
            </a:extLst>
          </p:cNvPr>
          <p:cNvGrpSpPr/>
          <p:nvPr/>
        </p:nvGrpSpPr>
        <p:grpSpPr>
          <a:xfrm>
            <a:off x="274320" y="777240"/>
            <a:ext cx="1743166" cy="725279"/>
            <a:chOff x="274320" y="777240"/>
            <a:chExt cx="2011680" cy="804672"/>
          </a:xfrm>
        </p:grpSpPr>
        <p:sp>
          <p:nvSpPr>
            <p:cNvPr id="7" name="Shape 5"/>
            <p:cNvSpPr/>
            <p:nvPr/>
          </p:nvSpPr>
          <p:spPr>
            <a:xfrm>
              <a:off x="274320" y="777240"/>
              <a:ext cx="201168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74320" y="777240"/>
              <a:ext cx="2011680" cy="91440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74320" y="877824"/>
              <a:ext cx="20116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000" b="1" noProof="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Lignes de code exécutables</a:t>
              </a:r>
              <a:endParaRPr lang="fr-FR" sz="1000" noProof="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74320" y="1261872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200" b="1" noProof="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762</a:t>
              </a:r>
              <a:endParaRPr lang="fr-FR" sz="1000" b="1" noProof="0" dirty="0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18329BDF-1433-2037-3B04-ACBBC2F304E6}"/>
              </a:ext>
            </a:extLst>
          </p:cNvPr>
          <p:cNvGrpSpPr/>
          <p:nvPr/>
        </p:nvGrpSpPr>
        <p:grpSpPr>
          <a:xfrm>
            <a:off x="2109507" y="777240"/>
            <a:ext cx="1490037" cy="740664"/>
            <a:chOff x="2450592" y="777240"/>
            <a:chExt cx="2011680" cy="804672"/>
          </a:xfrm>
        </p:grpSpPr>
        <p:sp>
          <p:nvSpPr>
            <p:cNvPr id="11" name="Shape 9"/>
            <p:cNvSpPr/>
            <p:nvPr/>
          </p:nvSpPr>
          <p:spPr>
            <a:xfrm>
              <a:off x="2450592" y="777240"/>
              <a:ext cx="201168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450592" y="777240"/>
              <a:ext cx="2011680" cy="91440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450592" y="877824"/>
              <a:ext cx="20116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000" b="1" noProof="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Lignes non testées</a:t>
              </a:r>
              <a:endParaRPr lang="fr-FR" sz="1000" noProof="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450592" y="1261872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200" b="1" noProof="0" dirty="0">
                  <a:latin typeface="Arial" pitchFamily="34" charset="0"/>
                  <a:cs typeface="Arial" pitchFamily="34" charset="-120"/>
                </a:rPr>
                <a:t>5</a:t>
              </a:r>
              <a:endParaRPr lang="fr-FR" sz="1000" b="1" noProof="0" dirty="0"/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48AD3BC1-1CD3-7E99-BAE9-5AC94E38436D}"/>
              </a:ext>
            </a:extLst>
          </p:cNvPr>
          <p:cNvGrpSpPr/>
          <p:nvPr/>
        </p:nvGrpSpPr>
        <p:grpSpPr>
          <a:xfrm>
            <a:off x="7410994" y="777240"/>
            <a:ext cx="1403822" cy="681748"/>
            <a:chOff x="4626864" y="777240"/>
            <a:chExt cx="2011680" cy="804672"/>
          </a:xfrm>
        </p:grpSpPr>
        <p:sp>
          <p:nvSpPr>
            <p:cNvPr id="15" name="Shape 13"/>
            <p:cNvSpPr/>
            <p:nvPr/>
          </p:nvSpPr>
          <p:spPr>
            <a:xfrm>
              <a:off x="4626864" y="777240"/>
              <a:ext cx="201168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626864" y="777240"/>
              <a:ext cx="2011680" cy="91440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626864" y="877824"/>
              <a:ext cx="20116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000" b="1" noProof="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Couverture</a:t>
              </a:r>
              <a:endParaRPr lang="fr-FR" sz="1000" noProof="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626864" y="1261872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200" b="1" noProof="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99 %</a:t>
              </a:r>
              <a:endParaRPr lang="fr-FR" sz="1200" b="1" noProof="0" dirty="0"/>
            </a:p>
          </p:txBody>
        </p:sp>
      </p:grpSp>
      <p:sp>
        <p:nvSpPr>
          <p:cNvPr id="22" name="Text 20"/>
          <p:cNvSpPr/>
          <p:nvPr/>
        </p:nvSpPr>
        <p:spPr>
          <a:xfrm>
            <a:off x="6803136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fr-FR" sz="1000" noProof="0" dirty="0"/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3EE98804-37B3-CA05-5ECF-445E3D6192CC}"/>
              </a:ext>
            </a:extLst>
          </p:cNvPr>
          <p:cNvGrpSpPr/>
          <p:nvPr/>
        </p:nvGrpSpPr>
        <p:grpSpPr>
          <a:xfrm>
            <a:off x="5564485" y="787195"/>
            <a:ext cx="1528064" cy="681748"/>
            <a:chOff x="6803136" y="777240"/>
            <a:chExt cx="2011680" cy="804672"/>
          </a:xfrm>
        </p:grpSpPr>
        <p:sp>
          <p:nvSpPr>
            <p:cNvPr id="19" name="Shape 17"/>
            <p:cNvSpPr/>
            <p:nvPr/>
          </p:nvSpPr>
          <p:spPr>
            <a:xfrm>
              <a:off x="6803136" y="777240"/>
              <a:ext cx="201168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803136" y="777240"/>
              <a:ext cx="2011680" cy="91440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803136" y="877824"/>
              <a:ext cx="20116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fr-FR" sz="1000" b="1" noProof="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Taux de réussite</a:t>
              </a:r>
              <a:endParaRPr lang="fr-FR" sz="1000" b="1" noProof="0" dirty="0"/>
            </a:p>
          </p:txBody>
        </p:sp>
        <p:sp>
          <p:nvSpPr>
            <p:cNvPr id="26" name="Text 16">
              <a:extLst>
                <a:ext uri="{FF2B5EF4-FFF2-40B4-BE49-F238E27FC236}">
                  <a16:creationId xmlns:a16="http://schemas.microsoft.com/office/drawing/2014/main" id="{3FC5A7C5-62B9-0103-9A5B-46DA06EDACF4}"/>
                </a:ext>
              </a:extLst>
            </p:cNvPr>
            <p:cNvSpPr/>
            <p:nvPr/>
          </p:nvSpPr>
          <p:spPr>
            <a:xfrm>
              <a:off x="6803136" y="1246487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200" b="1" noProof="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100 %</a:t>
              </a:r>
              <a:endParaRPr lang="fr-FR" sz="1200" b="1" noProof="0" dirty="0"/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CB6294AC-6284-FDAC-11AA-5C387A168117}"/>
              </a:ext>
            </a:extLst>
          </p:cNvPr>
          <p:cNvGrpSpPr/>
          <p:nvPr/>
        </p:nvGrpSpPr>
        <p:grpSpPr>
          <a:xfrm>
            <a:off x="3891860" y="777240"/>
            <a:ext cx="1403822" cy="681748"/>
            <a:chOff x="4626864" y="777240"/>
            <a:chExt cx="2011680" cy="804672"/>
          </a:xfrm>
        </p:grpSpPr>
        <p:sp>
          <p:nvSpPr>
            <p:cNvPr id="32" name="Shape 13">
              <a:extLst>
                <a:ext uri="{FF2B5EF4-FFF2-40B4-BE49-F238E27FC236}">
                  <a16:creationId xmlns:a16="http://schemas.microsoft.com/office/drawing/2014/main" id="{F85A8389-5201-C8DC-1922-9D3FBCCF7201}"/>
                </a:ext>
              </a:extLst>
            </p:cNvPr>
            <p:cNvSpPr/>
            <p:nvPr/>
          </p:nvSpPr>
          <p:spPr>
            <a:xfrm>
              <a:off x="4626864" y="777240"/>
              <a:ext cx="201168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3" name="Shape 14">
              <a:extLst>
                <a:ext uri="{FF2B5EF4-FFF2-40B4-BE49-F238E27FC236}">
                  <a16:creationId xmlns:a16="http://schemas.microsoft.com/office/drawing/2014/main" id="{03FCE193-DA88-F12A-B206-6A50ECAC37F2}"/>
                </a:ext>
              </a:extLst>
            </p:cNvPr>
            <p:cNvSpPr/>
            <p:nvPr/>
          </p:nvSpPr>
          <p:spPr>
            <a:xfrm>
              <a:off x="4626864" y="777240"/>
              <a:ext cx="2011680" cy="91440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4" name="Text 15">
              <a:extLst>
                <a:ext uri="{FF2B5EF4-FFF2-40B4-BE49-F238E27FC236}">
                  <a16:creationId xmlns:a16="http://schemas.microsoft.com/office/drawing/2014/main" id="{AF24E457-E5B9-49E6-5E53-BFA8F3AD4F9D}"/>
                </a:ext>
              </a:extLst>
            </p:cNvPr>
            <p:cNvSpPr/>
            <p:nvPr/>
          </p:nvSpPr>
          <p:spPr>
            <a:xfrm>
              <a:off x="4626864" y="877824"/>
              <a:ext cx="20116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000" b="1" noProof="0" dirty="0">
                  <a:latin typeface="Arial" pitchFamily="34" charset="0"/>
                  <a:cs typeface="Arial" pitchFamily="34" charset="-120"/>
                </a:rPr>
                <a:t>Nombre de tests</a:t>
              </a:r>
              <a:endParaRPr lang="fr-FR" sz="1000" noProof="0" dirty="0"/>
            </a:p>
          </p:txBody>
        </p:sp>
        <p:sp>
          <p:nvSpPr>
            <p:cNvPr id="35" name="Text 16">
              <a:extLst>
                <a:ext uri="{FF2B5EF4-FFF2-40B4-BE49-F238E27FC236}">
                  <a16:creationId xmlns:a16="http://schemas.microsoft.com/office/drawing/2014/main" id="{2806AADE-A23A-9E8C-C99D-6AA709B4F3A0}"/>
                </a:ext>
              </a:extLst>
            </p:cNvPr>
            <p:cNvSpPr/>
            <p:nvPr/>
          </p:nvSpPr>
          <p:spPr>
            <a:xfrm>
              <a:off x="4626864" y="1261872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200" b="1" noProof="0" dirty="0">
                  <a:latin typeface="Arial" pitchFamily="34" charset="0"/>
                  <a:cs typeface="Arial" pitchFamily="34" charset="-120"/>
                </a:rPr>
                <a:t>313</a:t>
              </a:r>
              <a:endParaRPr lang="fr-FR" sz="1200" b="1" noProof="0" dirty="0"/>
            </a:p>
          </p:txBody>
        </p:sp>
      </p:grpSp>
      <p:pic>
        <p:nvPicPr>
          <p:cNvPr id="24" name="Image 23">
            <a:extLst>
              <a:ext uri="{FF2B5EF4-FFF2-40B4-BE49-F238E27FC236}">
                <a16:creationId xmlns:a16="http://schemas.microsoft.com/office/drawing/2014/main" id="{66CCCA1E-6EC7-45DB-3927-0464D9915D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016"/>
          <a:stretch>
            <a:fillRect/>
          </a:stretch>
        </p:blipFill>
        <p:spPr>
          <a:xfrm>
            <a:off x="247579" y="1513005"/>
            <a:ext cx="8685418" cy="31462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 DIFFICULTÉS RENCONTRÉES </a:t>
            </a:r>
            <a:endParaRPr lang="fr-FR" sz="2000" noProof="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pPr algn="ctr"/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48828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1234440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fr-FR" sz="1300" noProof="0" dirty="0"/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AF4EEC25-22EB-20B1-4C58-B7C78639E76A}"/>
              </a:ext>
            </a:extLst>
          </p:cNvPr>
          <p:cNvGrpSpPr/>
          <p:nvPr/>
        </p:nvGrpSpPr>
        <p:grpSpPr>
          <a:xfrm>
            <a:off x="76375" y="1661625"/>
            <a:ext cx="4284907" cy="2176166"/>
            <a:chOff x="274320" y="777240"/>
            <a:chExt cx="4133088" cy="1920240"/>
          </a:xfrm>
        </p:grpSpPr>
        <p:sp>
          <p:nvSpPr>
            <p:cNvPr id="7" name="Shape 5"/>
            <p:cNvSpPr/>
            <p:nvPr/>
          </p:nvSpPr>
          <p:spPr>
            <a:xfrm>
              <a:off x="274320" y="777240"/>
              <a:ext cx="4114800" cy="1920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74320" y="777240"/>
              <a:ext cx="4114800" cy="82296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28907" y="938711"/>
              <a:ext cx="338589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400" b="1" noProof="0" dirty="0">
                  <a:solidFill>
                    <a:srgbClr val="1A1A2E"/>
                  </a:solidFill>
                </a:rPr>
                <a:t>Implémentation de l'architecture 3-tiers</a:t>
              </a:r>
              <a:endParaRPr lang="fr-FR" sz="1400" noProof="0" dirty="0"/>
            </a:p>
          </p:txBody>
        </p:sp>
        <p:sp>
          <p:nvSpPr>
            <p:cNvPr id="60" name="Text 16">
              <a:extLst>
                <a:ext uri="{FF2B5EF4-FFF2-40B4-BE49-F238E27FC236}">
                  <a16:creationId xmlns:a16="http://schemas.microsoft.com/office/drawing/2014/main" id="{FEBB3EC8-57D5-E9F7-5987-EB74C635DEFA}"/>
                </a:ext>
              </a:extLst>
            </p:cNvPr>
            <p:cNvSpPr/>
            <p:nvPr/>
          </p:nvSpPr>
          <p:spPr>
            <a:xfrm>
              <a:off x="292608" y="1581912"/>
              <a:ext cx="411480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just">
                <a:buNone/>
              </a:pPr>
              <a:r>
                <a:rPr lang="fr-FR" sz="1400" noProof="0" dirty="0"/>
                <a:t>Mettre en œuvre une architecture Vues / Contrôleurs / Modèles pour chacun des 6 modules tout en maintenant une cohérence et une séparation stricte des responsabilités.</a:t>
              </a:r>
            </a:p>
          </p:txBody>
        </p:sp>
        <p:sp>
          <p:nvSpPr>
            <p:cNvPr id="64" name="Shape 48">
              <a:extLst>
                <a:ext uri="{FF2B5EF4-FFF2-40B4-BE49-F238E27FC236}">
                  <a16:creationId xmlns:a16="http://schemas.microsoft.com/office/drawing/2014/main" id="{D456EB04-D03F-EE33-AA67-3FCC8B78F7AD}"/>
                </a:ext>
              </a:extLst>
            </p:cNvPr>
            <p:cNvSpPr/>
            <p:nvPr/>
          </p:nvSpPr>
          <p:spPr>
            <a:xfrm>
              <a:off x="297978" y="899233"/>
              <a:ext cx="347472" cy="347472"/>
            </a:xfrm>
            <a:prstGeom prst="rect">
              <a:avLst/>
            </a:prstGeom>
            <a:solidFill>
              <a:srgbClr val="1A2E5A"/>
            </a:solidFill>
            <a:ln w="12700">
              <a:solidFill>
                <a:srgbClr val="1A2E5A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5" name="Text 49">
              <a:extLst>
                <a:ext uri="{FF2B5EF4-FFF2-40B4-BE49-F238E27FC236}">
                  <a16:creationId xmlns:a16="http://schemas.microsoft.com/office/drawing/2014/main" id="{98A6BCF3-F211-F193-4C3B-3F152EBE9981}"/>
                </a:ext>
              </a:extLst>
            </p:cNvPr>
            <p:cNvSpPr/>
            <p:nvPr/>
          </p:nvSpPr>
          <p:spPr>
            <a:xfrm>
              <a:off x="297978" y="899233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300" b="1" noProof="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01</a:t>
              </a:r>
              <a:endParaRPr lang="fr-FR" sz="1300" noProof="0" dirty="0"/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CF686F32-5616-5728-69DF-4A65C01DF874}"/>
              </a:ext>
            </a:extLst>
          </p:cNvPr>
          <p:cNvGrpSpPr/>
          <p:nvPr/>
        </p:nvGrpSpPr>
        <p:grpSpPr>
          <a:xfrm>
            <a:off x="4645679" y="1661625"/>
            <a:ext cx="4290473" cy="2176166"/>
            <a:chOff x="274320" y="2880360"/>
            <a:chExt cx="4138457" cy="1920240"/>
          </a:xfrm>
        </p:grpSpPr>
        <p:sp>
          <p:nvSpPr>
            <p:cNvPr id="20" name="Shape 18"/>
            <p:cNvSpPr/>
            <p:nvPr/>
          </p:nvSpPr>
          <p:spPr>
            <a:xfrm>
              <a:off x="274320" y="2880360"/>
              <a:ext cx="4114800" cy="1920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74320" y="2880360"/>
              <a:ext cx="4114800" cy="82296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297978" y="2993209"/>
              <a:ext cx="347472" cy="347472"/>
            </a:xfrm>
            <a:prstGeom prst="rect">
              <a:avLst/>
            </a:prstGeom>
            <a:solidFill>
              <a:srgbClr val="1A2E5A"/>
            </a:solidFill>
            <a:ln w="12700">
              <a:solidFill>
                <a:srgbClr val="1A2E5A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97978" y="2993209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300" b="1" noProof="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02</a:t>
              </a:r>
              <a:endParaRPr lang="fr-FR" sz="1300" noProof="0" dirty="0"/>
            </a:p>
          </p:txBody>
        </p:sp>
        <p:sp>
          <p:nvSpPr>
            <p:cNvPr id="67" name="Text 11">
              <a:extLst>
                <a:ext uri="{FF2B5EF4-FFF2-40B4-BE49-F238E27FC236}">
                  <a16:creationId xmlns:a16="http://schemas.microsoft.com/office/drawing/2014/main" id="{3508B510-F072-B129-2205-AB5F06427508}"/>
                </a:ext>
              </a:extLst>
            </p:cNvPr>
            <p:cNvSpPr/>
            <p:nvPr/>
          </p:nvSpPr>
          <p:spPr>
            <a:xfrm>
              <a:off x="728907" y="3024913"/>
              <a:ext cx="338589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400" b="1" noProof="0" dirty="0">
                  <a:solidFill>
                    <a:srgbClr val="1A1A2E"/>
                  </a:solidFill>
                </a:rPr>
                <a:t>Implémentation de la sécurité (</a:t>
              </a:r>
              <a:r>
                <a:rPr lang="fr-FR" sz="1400" b="1" noProof="0" dirty="0" err="1">
                  <a:solidFill>
                    <a:srgbClr val="1A1A2E"/>
                  </a:solidFill>
                </a:rPr>
                <a:t>bcrypt</a:t>
              </a:r>
              <a:r>
                <a:rPr lang="fr-FR" sz="1400" b="1" noProof="0" dirty="0">
                  <a:solidFill>
                    <a:srgbClr val="1A1A2E"/>
                  </a:solidFill>
                </a:rPr>
                <a:t>)</a:t>
              </a:r>
              <a:endParaRPr lang="fr-FR" sz="1400" noProof="0" dirty="0"/>
            </a:p>
          </p:txBody>
        </p: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CFA5A982-EACA-1ABA-93D6-E687D9DD7DDA}"/>
                </a:ext>
              </a:extLst>
            </p:cNvPr>
            <p:cNvSpPr txBox="1"/>
            <p:nvPr/>
          </p:nvSpPr>
          <p:spPr>
            <a:xfrm>
              <a:off x="297977" y="3474720"/>
              <a:ext cx="4114800" cy="6517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Arial" panose="020B0604020202020204" pitchFamily="34" charset="0"/>
                </a:rPr>
                <a:t>Intégrеr correctement le hachage </a:t>
              </a:r>
              <a:r>
                <a:rPr kumimoji="0" lang="fr-FR" sz="14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cs typeface="Arial" panose="020B0604020202020204" pitchFamily="34" charset="0"/>
                </a:rPr>
                <a:t>bcrypt</a:t>
              </a:r>
              <a:r>
                <a:rPr kumimoji="0" lang="fr-FR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Arial" panose="020B0604020202020204" pitchFamily="34" charset="0"/>
                </a:rPr>
                <a:t> pour les mots de passe sans stocker de données sensibles en clair, tout en gérant les sessions et les rôles utilisateurs.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 CONCLUSION ET PERSPECTIVES</a:t>
            </a:r>
            <a:endParaRPr lang="fr-FR" sz="2000" noProof="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pPr algn="ctr"/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48828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341594" y="813816"/>
            <a:ext cx="859536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de gestion commerciale complète développée, documentée, testée et déployable sur Windows.</a:t>
            </a:r>
            <a:endParaRPr lang="fr-F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2296" cy="1325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1755648"/>
            <a:ext cx="347472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fr-F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896112" y="1764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3-tiers maîtrisée</a:t>
            </a:r>
            <a:endParaRPr lang="fr-F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2194560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Vues/Contrôleurs/Modèles strictement séparés. Modification logique métier sans toucher les vues.</a:t>
            </a:r>
            <a:endParaRPr lang="fr-FR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4663440" y="1627632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4"/>
          <p:cNvSpPr/>
          <p:nvPr/>
        </p:nvSpPr>
        <p:spPr>
          <a:xfrm>
            <a:off x="4663440" y="1627632"/>
            <a:ext cx="82296" cy="1325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5"/>
          <p:cNvSpPr/>
          <p:nvPr/>
        </p:nvSpPr>
        <p:spPr>
          <a:xfrm>
            <a:off x="4846320" y="1755648"/>
            <a:ext cx="347472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84632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fr-FR" sz="1100" noProof="0" dirty="0"/>
          </a:p>
        </p:txBody>
      </p:sp>
      <p:sp>
        <p:nvSpPr>
          <p:cNvPr id="19" name="Text 17"/>
          <p:cNvSpPr/>
          <p:nvPr/>
        </p:nvSpPr>
        <p:spPr>
          <a:xfrm>
            <a:off x="5285232" y="1764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implémentée</a:t>
            </a:r>
            <a:endParaRPr lang="fr-FR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4846320" y="2194560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r>
              <a:rPr lang="fr-FR" sz="10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, .</a:t>
            </a:r>
            <a:r>
              <a:rPr lang="fr-FR" sz="10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env</a:t>
            </a:r>
            <a:r>
              <a:rPr lang="fr-FR" sz="10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, requêtes paramétrées, RBAC, timeout — aucun mot de passe en clair.</a:t>
            </a:r>
            <a:endParaRPr lang="fr-FR" sz="1000" noProof="0" dirty="0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20"/>
          <p:cNvSpPr/>
          <p:nvPr/>
        </p:nvSpPr>
        <p:spPr>
          <a:xfrm>
            <a:off x="274320" y="3108960"/>
            <a:ext cx="82296" cy="1325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457200" y="3236976"/>
            <a:ext cx="347472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45720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fr-FR" sz="1100" noProof="0" dirty="0"/>
          </a:p>
        </p:txBody>
      </p:sp>
      <p:sp>
        <p:nvSpPr>
          <p:cNvPr id="25" name="Text 23"/>
          <p:cNvSpPr/>
          <p:nvPr/>
        </p:nvSpPr>
        <p:spPr>
          <a:xfrm>
            <a:off x="896112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fonctionnelle réelle</a:t>
            </a:r>
            <a:endParaRPr lang="fr-FR" sz="1200" noProof="0" dirty="0"/>
          </a:p>
        </p:txBody>
      </p:sp>
      <p:sp>
        <p:nvSpPr>
          <p:cNvPr id="26" name="Text 24"/>
          <p:cNvSpPr/>
          <p:nvPr/>
        </p:nvSpPr>
        <p:spPr>
          <a:xfrm>
            <a:off x="457200" y="367588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Tourne sur MySQL, génère de vraies factures PDF, pourrait être utilisée telle quelle.</a:t>
            </a:r>
            <a:endParaRPr lang="fr-FR" sz="1000" noProof="0" dirty="0"/>
          </a:p>
        </p:txBody>
      </p:sp>
      <p:sp>
        <p:nvSpPr>
          <p:cNvPr id="27" name="Shape 25"/>
          <p:cNvSpPr/>
          <p:nvPr/>
        </p:nvSpPr>
        <p:spPr>
          <a:xfrm>
            <a:off x="4663440" y="310896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6"/>
          <p:cNvSpPr/>
          <p:nvPr/>
        </p:nvSpPr>
        <p:spPr>
          <a:xfrm>
            <a:off x="4663440" y="3108960"/>
            <a:ext cx="82296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7"/>
          <p:cNvSpPr/>
          <p:nvPr/>
        </p:nvSpPr>
        <p:spPr>
          <a:xfrm>
            <a:off x="4846320" y="3236976"/>
            <a:ext cx="347472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8"/>
          <p:cNvSpPr/>
          <p:nvPr/>
        </p:nvSpPr>
        <p:spPr>
          <a:xfrm>
            <a:off x="484632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fr-FR" sz="1100" noProof="0" dirty="0"/>
          </a:p>
        </p:txBody>
      </p:sp>
      <p:sp>
        <p:nvSpPr>
          <p:cNvPr id="31" name="Text 29"/>
          <p:cNvSpPr/>
          <p:nvPr/>
        </p:nvSpPr>
        <p:spPr>
          <a:xfrm>
            <a:off x="5285232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des tests passés</a:t>
            </a:r>
            <a:endParaRPr lang="fr-FR" sz="1200" noProof="0" dirty="0"/>
          </a:p>
        </p:txBody>
      </p:sp>
      <p:sp>
        <p:nvSpPr>
          <p:cNvPr id="32" name="Text 30"/>
          <p:cNvSpPr/>
          <p:nvPr/>
        </p:nvSpPr>
        <p:spPr>
          <a:xfrm>
            <a:off x="4846320" y="367588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20 tests documentés, 0 FAIL. 3 bugs détectés et corrigés en cours de développement.</a:t>
            </a:r>
            <a:endParaRPr lang="fr-FR" sz="10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D1AB02-F07F-84B2-D688-D68B5F174D1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CFEF51-6D4C-E8F3-AC99-FC0F000C607E}"/>
              </a:ext>
            </a:extLst>
          </p:cNvPr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F236749-5D99-B75F-B7E6-928860D3A315}"/>
              </a:ext>
            </a:extLst>
          </p:cNvPr>
          <p:cNvSpPr/>
          <p:nvPr/>
        </p:nvSpPr>
        <p:spPr>
          <a:xfrm>
            <a:off x="231374" y="548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 CONCLUSION ET PERSPECTIVES</a:t>
            </a:r>
            <a:endParaRPr lang="fr-FR" sz="2000" noProof="0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ACCA03E-6E9F-5A3A-4DE7-CD9833A134C9}"/>
              </a:ext>
            </a:extLst>
          </p:cNvPr>
          <p:cNvGrpSpPr/>
          <p:nvPr/>
        </p:nvGrpSpPr>
        <p:grpSpPr>
          <a:xfrm>
            <a:off x="322088" y="1194816"/>
            <a:ext cx="4303250" cy="1719072"/>
            <a:chOff x="3172968" y="1261872"/>
            <a:chExt cx="2988595" cy="1719072"/>
          </a:xfrm>
        </p:grpSpPr>
        <p:sp>
          <p:nvSpPr>
            <p:cNvPr id="6" name="Shape 21">
              <a:extLst>
                <a:ext uri="{FF2B5EF4-FFF2-40B4-BE49-F238E27FC236}">
                  <a16:creationId xmlns:a16="http://schemas.microsoft.com/office/drawing/2014/main" id="{E9E800C3-5A78-839A-C854-86E1644D45F9}"/>
                </a:ext>
              </a:extLst>
            </p:cNvPr>
            <p:cNvSpPr/>
            <p:nvPr/>
          </p:nvSpPr>
          <p:spPr>
            <a:xfrm>
              <a:off x="3247072" y="1261872"/>
              <a:ext cx="2914491" cy="17190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" name="Shape 22">
              <a:extLst>
                <a:ext uri="{FF2B5EF4-FFF2-40B4-BE49-F238E27FC236}">
                  <a16:creationId xmlns:a16="http://schemas.microsoft.com/office/drawing/2014/main" id="{19930061-4942-A284-52D0-453507044080}"/>
                </a:ext>
              </a:extLst>
            </p:cNvPr>
            <p:cNvSpPr/>
            <p:nvPr/>
          </p:nvSpPr>
          <p:spPr>
            <a:xfrm>
              <a:off x="3172968" y="1261872"/>
              <a:ext cx="109728" cy="1719072"/>
            </a:xfrm>
            <a:prstGeom prst="rect">
              <a:avLst/>
            </a:prstGeom>
            <a:solidFill>
              <a:srgbClr val="1A2E5A"/>
            </a:solidFill>
            <a:ln w="12700">
              <a:solidFill>
                <a:srgbClr val="1A2E5A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Text 24">
              <a:extLst>
                <a:ext uri="{FF2B5EF4-FFF2-40B4-BE49-F238E27FC236}">
                  <a16:creationId xmlns:a16="http://schemas.microsoft.com/office/drawing/2014/main" id="{F29FC73A-A97B-0D23-CBE9-68020C25C5C8}"/>
                </a:ext>
              </a:extLst>
            </p:cNvPr>
            <p:cNvSpPr/>
            <p:nvPr/>
          </p:nvSpPr>
          <p:spPr>
            <a:xfrm>
              <a:off x="3355847" y="1400556"/>
              <a:ext cx="2606041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400" b="1" noProof="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Authentification MFA</a:t>
              </a:r>
            </a:p>
          </p:txBody>
        </p:sp>
        <p:sp>
          <p:nvSpPr>
            <p:cNvPr id="9" name="Text 25">
              <a:extLst>
                <a:ext uri="{FF2B5EF4-FFF2-40B4-BE49-F238E27FC236}">
                  <a16:creationId xmlns:a16="http://schemas.microsoft.com/office/drawing/2014/main" id="{5FCABE87-E171-4FFB-4AD0-D77D35DA8FA2}"/>
                </a:ext>
              </a:extLst>
            </p:cNvPr>
            <p:cNvSpPr/>
            <p:nvPr/>
          </p:nvSpPr>
          <p:spPr>
            <a:xfrm>
              <a:off x="3330810" y="1755648"/>
              <a:ext cx="2537243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200" noProof="0" dirty="0">
                  <a:latin typeface="Aptos Narrow" panose="020B0004020202020204" pitchFamily="34" charset="0"/>
                </a:rPr>
                <a:t>Double authentification par code SMS ou application (Google </a:t>
              </a:r>
              <a:r>
                <a:rPr lang="fr-FR" sz="1200" noProof="0" dirty="0" err="1">
                  <a:latin typeface="Aptos Narrow" panose="020B0004020202020204" pitchFamily="34" charset="0"/>
                </a:rPr>
                <a:t>Authenticator</a:t>
              </a:r>
              <a:r>
                <a:rPr lang="fr-FR" sz="1200" noProof="0" dirty="0">
                  <a:latin typeface="Aptos Narrow" panose="020B0004020202020204" pitchFamily="34" charset="0"/>
                </a:rPr>
                <a:t>) pour sécuriser les accès.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66365FF-2753-794E-D5F7-31394CD7E790}"/>
              </a:ext>
            </a:extLst>
          </p:cNvPr>
          <p:cNvGrpSpPr/>
          <p:nvPr/>
        </p:nvGrpSpPr>
        <p:grpSpPr>
          <a:xfrm>
            <a:off x="322088" y="3041904"/>
            <a:ext cx="4303250" cy="1719072"/>
            <a:chOff x="3172968" y="3108960"/>
            <a:chExt cx="2788920" cy="1719072"/>
          </a:xfrm>
        </p:grpSpPr>
        <p:sp>
          <p:nvSpPr>
            <p:cNvPr id="11" name="Shape 26">
              <a:extLst>
                <a:ext uri="{FF2B5EF4-FFF2-40B4-BE49-F238E27FC236}">
                  <a16:creationId xmlns:a16="http://schemas.microsoft.com/office/drawing/2014/main" id="{2EC699F9-33A6-5A1D-B20F-C869C8AA3B8C}"/>
                </a:ext>
              </a:extLst>
            </p:cNvPr>
            <p:cNvSpPr/>
            <p:nvPr/>
          </p:nvSpPr>
          <p:spPr>
            <a:xfrm>
              <a:off x="3172968" y="3108960"/>
              <a:ext cx="2788920" cy="17190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Shape 27">
              <a:extLst>
                <a:ext uri="{FF2B5EF4-FFF2-40B4-BE49-F238E27FC236}">
                  <a16:creationId xmlns:a16="http://schemas.microsoft.com/office/drawing/2014/main" id="{07005414-7CD0-78E1-DD9F-CC303C38A378}"/>
                </a:ext>
              </a:extLst>
            </p:cNvPr>
            <p:cNvSpPr/>
            <p:nvPr/>
          </p:nvSpPr>
          <p:spPr>
            <a:xfrm>
              <a:off x="3172968" y="3108960"/>
              <a:ext cx="109728" cy="1719072"/>
            </a:xfrm>
            <a:prstGeom prst="rect">
              <a:avLst/>
            </a:prstGeom>
            <a:solidFill>
              <a:srgbClr val="1A2E5A"/>
            </a:solidFill>
            <a:ln w="12700">
              <a:solidFill>
                <a:srgbClr val="1A2E5A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Text 29">
              <a:extLst>
                <a:ext uri="{FF2B5EF4-FFF2-40B4-BE49-F238E27FC236}">
                  <a16:creationId xmlns:a16="http://schemas.microsoft.com/office/drawing/2014/main" id="{6586A566-DDB2-4BB4-7FFE-F1836E315658}"/>
                </a:ext>
              </a:extLst>
            </p:cNvPr>
            <p:cNvSpPr/>
            <p:nvPr/>
          </p:nvSpPr>
          <p:spPr>
            <a:xfrm>
              <a:off x="3355848" y="3153156"/>
              <a:ext cx="1965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400" b="1" noProof="0" dirty="0">
                  <a:latin typeface="Arial" panose="020B0604020202020204" pitchFamily="34" charset="0"/>
                  <a:cs typeface="Arial" panose="020B0604020202020204" pitchFamily="34" charset="0"/>
                </a:rPr>
                <a:t>Hébergement Cloud MySQL</a:t>
              </a:r>
            </a:p>
          </p:txBody>
        </p:sp>
        <p:sp>
          <p:nvSpPr>
            <p:cNvPr id="14" name="Text 30">
              <a:extLst>
                <a:ext uri="{FF2B5EF4-FFF2-40B4-BE49-F238E27FC236}">
                  <a16:creationId xmlns:a16="http://schemas.microsoft.com/office/drawing/2014/main" id="{787B557D-D1E3-D203-11BD-8152BD5ACCD2}"/>
                </a:ext>
              </a:extLst>
            </p:cNvPr>
            <p:cNvSpPr/>
            <p:nvPr/>
          </p:nvSpPr>
          <p:spPr>
            <a:xfrm>
              <a:off x="3347763" y="3529584"/>
              <a:ext cx="2487168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200" noProof="0" dirty="0">
                  <a:latin typeface="Aptos Narrow" panose="020B0004020202020204" pitchFamily="34" charset="0"/>
                </a:rPr>
                <a:t>Base de données hébergée en ligne avec sauvegardes automatiques et accès </a:t>
              </a:r>
              <a:r>
                <a:rPr lang="fr-FR" sz="1200" noProof="0" dirty="0" err="1">
                  <a:latin typeface="Aptos Narrow" panose="020B0004020202020204" pitchFamily="34" charset="0"/>
                </a:rPr>
                <a:t>multi-postes</a:t>
              </a:r>
              <a:r>
                <a:rPr lang="fr-FR" sz="1200" noProof="0" dirty="0">
                  <a:latin typeface="Aptos Narrow" panose="020B0004020202020204" pitchFamily="34" charset="0"/>
                </a:rPr>
                <a:t>.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9531A42-3F97-9B2A-AE54-1F27683FD03A}"/>
              </a:ext>
            </a:extLst>
          </p:cNvPr>
          <p:cNvGrpSpPr/>
          <p:nvPr/>
        </p:nvGrpSpPr>
        <p:grpSpPr>
          <a:xfrm>
            <a:off x="5124212" y="1194816"/>
            <a:ext cx="3610356" cy="1719072"/>
            <a:chOff x="6117336" y="1261872"/>
            <a:chExt cx="2788920" cy="1719072"/>
          </a:xfrm>
        </p:grpSpPr>
        <p:sp>
          <p:nvSpPr>
            <p:cNvPr id="16" name="Shape 33">
              <a:extLst>
                <a:ext uri="{FF2B5EF4-FFF2-40B4-BE49-F238E27FC236}">
                  <a16:creationId xmlns:a16="http://schemas.microsoft.com/office/drawing/2014/main" id="{C0B67177-C3C7-2C9E-1FBF-A4D5FD4AA243}"/>
                </a:ext>
              </a:extLst>
            </p:cNvPr>
            <p:cNvSpPr/>
            <p:nvPr/>
          </p:nvSpPr>
          <p:spPr>
            <a:xfrm>
              <a:off x="6117336" y="1261872"/>
              <a:ext cx="2788920" cy="17190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Shape 34">
              <a:extLst>
                <a:ext uri="{FF2B5EF4-FFF2-40B4-BE49-F238E27FC236}">
                  <a16:creationId xmlns:a16="http://schemas.microsoft.com/office/drawing/2014/main" id="{D54687C3-E2A1-52F6-B341-B161D72DA9AE}"/>
                </a:ext>
              </a:extLst>
            </p:cNvPr>
            <p:cNvSpPr/>
            <p:nvPr/>
          </p:nvSpPr>
          <p:spPr>
            <a:xfrm>
              <a:off x="6117336" y="1261872"/>
              <a:ext cx="109728" cy="1719072"/>
            </a:xfrm>
            <a:prstGeom prst="rect">
              <a:avLst/>
            </a:prstGeom>
            <a:solidFill>
              <a:srgbClr val="065F46"/>
            </a:solidFill>
            <a:ln w="12700">
              <a:solidFill>
                <a:srgbClr val="065F46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Text 36">
              <a:extLst>
                <a:ext uri="{FF2B5EF4-FFF2-40B4-BE49-F238E27FC236}">
                  <a16:creationId xmlns:a16="http://schemas.microsoft.com/office/drawing/2014/main" id="{EB13A5B4-130E-9548-56B3-FBB1FC5C6CAD}"/>
                </a:ext>
              </a:extLst>
            </p:cNvPr>
            <p:cNvSpPr/>
            <p:nvPr/>
          </p:nvSpPr>
          <p:spPr>
            <a:xfrm>
              <a:off x="6300216" y="1389888"/>
              <a:ext cx="249631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400" b="1" noProof="0" dirty="0">
                  <a:solidFill>
                    <a:srgbClr val="1A1A2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Application Mobile</a:t>
              </a:r>
            </a:p>
          </p:txBody>
        </p:sp>
        <p:sp>
          <p:nvSpPr>
            <p:cNvPr id="19" name="Text 37">
              <a:extLst>
                <a:ext uri="{FF2B5EF4-FFF2-40B4-BE49-F238E27FC236}">
                  <a16:creationId xmlns:a16="http://schemas.microsoft.com/office/drawing/2014/main" id="{B7A4364E-D267-E10A-4AB3-16AE0CCFE4B4}"/>
                </a:ext>
              </a:extLst>
            </p:cNvPr>
            <p:cNvSpPr/>
            <p:nvPr/>
          </p:nvSpPr>
          <p:spPr>
            <a:xfrm>
              <a:off x="6300216" y="1828800"/>
              <a:ext cx="2487168" cy="7391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200" noProof="0" dirty="0">
                  <a:latin typeface="Aptos Narrow" panose="020B0004020202020204" pitchFamily="34" charset="0"/>
                </a:rPr>
                <a:t>Version Android &amp; iOS pour consulter ventes, stock et clients depuis n'importe où.</a:t>
              </a: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A7997EE-B412-FF60-40E7-D5E760D0B729}"/>
              </a:ext>
            </a:extLst>
          </p:cNvPr>
          <p:cNvGrpSpPr/>
          <p:nvPr/>
        </p:nvGrpSpPr>
        <p:grpSpPr>
          <a:xfrm>
            <a:off x="5124212" y="3041904"/>
            <a:ext cx="3610356" cy="1719072"/>
            <a:chOff x="6117336" y="3108960"/>
            <a:chExt cx="2788920" cy="1719072"/>
          </a:xfrm>
        </p:grpSpPr>
        <p:sp>
          <p:nvSpPr>
            <p:cNvPr id="21" name="Shape 38">
              <a:extLst>
                <a:ext uri="{FF2B5EF4-FFF2-40B4-BE49-F238E27FC236}">
                  <a16:creationId xmlns:a16="http://schemas.microsoft.com/office/drawing/2014/main" id="{225CDB1F-4DBC-BFCF-B736-120474CDA630}"/>
                </a:ext>
              </a:extLst>
            </p:cNvPr>
            <p:cNvSpPr/>
            <p:nvPr/>
          </p:nvSpPr>
          <p:spPr>
            <a:xfrm>
              <a:off x="6117336" y="3108960"/>
              <a:ext cx="2788920" cy="17190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2" name="Shape 39">
              <a:extLst>
                <a:ext uri="{FF2B5EF4-FFF2-40B4-BE49-F238E27FC236}">
                  <a16:creationId xmlns:a16="http://schemas.microsoft.com/office/drawing/2014/main" id="{66E960C6-6867-827B-DAAF-6326B32EB8B8}"/>
                </a:ext>
              </a:extLst>
            </p:cNvPr>
            <p:cNvSpPr/>
            <p:nvPr/>
          </p:nvSpPr>
          <p:spPr>
            <a:xfrm>
              <a:off x="6117336" y="3108960"/>
              <a:ext cx="109728" cy="1719072"/>
            </a:xfrm>
            <a:prstGeom prst="rect">
              <a:avLst/>
            </a:prstGeom>
            <a:solidFill>
              <a:srgbClr val="065F46"/>
            </a:solidFill>
            <a:ln w="12700">
              <a:solidFill>
                <a:srgbClr val="065F46"/>
              </a:solidFill>
              <a:prstDash val="solid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3" name="Text 41">
              <a:extLst>
                <a:ext uri="{FF2B5EF4-FFF2-40B4-BE49-F238E27FC236}">
                  <a16:creationId xmlns:a16="http://schemas.microsoft.com/office/drawing/2014/main" id="{B1333AEF-E48B-DBDD-1E51-4F8E41175B06}"/>
                </a:ext>
              </a:extLst>
            </p:cNvPr>
            <p:cNvSpPr/>
            <p:nvPr/>
          </p:nvSpPr>
          <p:spPr>
            <a:xfrm>
              <a:off x="6309360" y="3236976"/>
              <a:ext cx="248716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400" b="1" noProof="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Module Devis / Pro-forma</a:t>
              </a:r>
            </a:p>
          </p:txBody>
        </p:sp>
        <p:sp>
          <p:nvSpPr>
            <p:cNvPr id="24" name="Text 42">
              <a:extLst>
                <a:ext uri="{FF2B5EF4-FFF2-40B4-BE49-F238E27FC236}">
                  <a16:creationId xmlns:a16="http://schemas.microsoft.com/office/drawing/2014/main" id="{8375F17A-4076-554C-3ED6-847E521706FB}"/>
                </a:ext>
              </a:extLst>
            </p:cNvPr>
            <p:cNvSpPr/>
            <p:nvPr/>
          </p:nvSpPr>
          <p:spPr>
            <a:xfrm>
              <a:off x="6300216" y="3675888"/>
              <a:ext cx="2487168" cy="7589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200" noProof="0" dirty="0">
                  <a:latin typeface="Aptos Narrow" panose="020B0004020202020204" pitchFamily="34" charset="0"/>
                </a:rPr>
                <a:t>Création de devis et factures pro-forma convertibles en ventes confirmées en un clic.</a:t>
              </a:r>
            </a:p>
          </p:txBody>
        </p:sp>
      </p:grpSp>
      <p:sp>
        <p:nvSpPr>
          <p:cNvPr id="26" name="Shape 3">
            <a:extLst>
              <a:ext uri="{FF2B5EF4-FFF2-40B4-BE49-F238E27FC236}">
                <a16:creationId xmlns:a16="http://schemas.microsoft.com/office/drawing/2014/main" id="{50BFE2B7-0BD5-0873-2645-8266E127044A}"/>
              </a:ext>
            </a:extLst>
          </p:cNvPr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pPr algn="ctr"/>
            <a:endParaRPr lang="fr-FR" noProof="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C42DA2E8-013E-AC7A-520E-EAB0AFD584EF}"/>
              </a:ext>
            </a:extLst>
          </p:cNvPr>
          <p:cNvSpPr/>
          <p:nvPr/>
        </p:nvSpPr>
        <p:spPr>
          <a:xfrm>
            <a:off x="274320" y="48828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Virtuelle de Côte d'Ivoire  ·  Année académique 2025–2026</a:t>
            </a:r>
            <a:endParaRPr lang="fr-FR" sz="900" noProof="0" dirty="0"/>
          </a:p>
        </p:txBody>
      </p:sp>
    </p:spTree>
    <p:extLst>
      <p:ext uri="{BB962C8B-B14F-4D97-AF65-F5344CB8AC3E}">
        <p14:creationId xmlns:p14="http://schemas.microsoft.com/office/powerpoint/2010/main" val="904669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9">
            <a:extLst>
              <a:ext uri="{FF2B5EF4-FFF2-40B4-BE49-F238E27FC236}">
                <a16:creationId xmlns:a16="http://schemas.microsoft.com/office/drawing/2014/main" id="{39BEA173-512F-A325-7ADC-8323036D8E9B}"/>
              </a:ext>
            </a:extLst>
          </p:cNvPr>
          <p:cNvSpPr/>
          <p:nvPr/>
        </p:nvSpPr>
        <p:spPr>
          <a:xfrm>
            <a:off x="201168" y="419100"/>
            <a:ext cx="8641080" cy="438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B7F1B5F6-DC33-1D38-35E1-731A37819E8C}"/>
              </a:ext>
            </a:extLst>
          </p:cNvPr>
          <p:cNvSpPr/>
          <p:nvPr/>
        </p:nvSpPr>
        <p:spPr>
          <a:xfrm>
            <a:off x="213360" y="419100"/>
            <a:ext cx="396240" cy="4381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A6B0E256-1E8E-4797-CA59-F4A1E77CAD3F}"/>
              </a:ext>
            </a:extLst>
          </p:cNvPr>
          <p:cNvSpPr/>
          <p:nvPr/>
        </p:nvSpPr>
        <p:spPr>
          <a:xfrm>
            <a:off x="418337" y="2084070"/>
            <a:ext cx="82067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5500" b="1" noProof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MERCI DE VOTRE AIMABLE ATTENTION</a:t>
            </a: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C6CCA948-DFAA-FDF4-F087-9991F947BA65}"/>
              </a:ext>
            </a:extLst>
          </p:cNvPr>
          <p:cNvSpPr/>
          <p:nvPr/>
        </p:nvSpPr>
        <p:spPr>
          <a:xfrm>
            <a:off x="8446008" y="419100"/>
            <a:ext cx="396240" cy="4381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1368</Words>
  <Application>Microsoft Office PowerPoint</Application>
  <PresentationFormat>Affichage à l'écran (16:9)</PresentationFormat>
  <Paragraphs>209</Paragraphs>
  <Slides>16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ADLaM Display</vt:lpstr>
      <vt:lpstr>Aptos Narrow</vt:lpstr>
      <vt:lpstr>Arial</vt:lpstr>
      <vt:lpstr>Avenir Next LT Pro Demi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 Gestion Commerciale — SGC</dc:title>
  <dc:subject>PptxGenJS Presentation</dc:subject>
  <dc:creator>PptxGenJS</dc:creator>
  <cp:lastModifiedBy>Débé Adama SORO | DGF | Ministère de l'Economie, des Finances et du Budget</cp:lastModifiedBy>
  <cp:revision>12</cp:revision>
  <dcterms:created xsi:type="dcterms:W3CDTF">2026-03-14T19:07:48Z</dcterms:created>
  <dcterms:modified xsi:type="dcterms:W3CDTF">2026-03-15T15:49:34Z</dcterms:modified>
</cp:coreProperties>
</file>